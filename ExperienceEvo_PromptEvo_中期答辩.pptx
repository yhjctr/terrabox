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85800"/>
            <a:ext cx="109728" cy="5074920"/>
          </a:xfrm>
          <a:prstGeom prst="rect">
            <a:avLst/>
          </a:prstGeom>
          <a:solidFill>
            <a:srgbClr val="ED8936"/>
          </a:solidFill>
          <a:ln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59536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1DBE0"/>
                </a:solidFill>
                <a:latin typeface="Aptos"/>
              </a:rPr>
              <a:t>MID-TERM DEFENSE  · 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17320"/>
            <a:ext cx="9966960" cy="12344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Noto Sans CJK SC"/>
              </a:rPr>
              <a:t>面向地理空间多工具 Agent
的经验自进化与协议自进化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907792"/>
            <a:ext cx="905256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DE2E7"/>
                </a:solidFill>
                <a:latin typeface="Aptos"/>
              </a:rPr>
              <a:t>ExperienceEvo · PromptEvo · Boundary · Agentic RL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3931920"/>
            <a:ext cx="9646920" cy="950976"/>
          </a:xfrm>
          <a:prstGeom prst="roundRect">
            <a:avLst/>
          </a:prstGeom>
          <a:solidFill>
            <a:srgbClr val="1F4B60"/>
          </a:solidFill>
          <a:ln w="12700">
            <a:solidFill>
              <a:srgbClr val="3E75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4142232"/>
            <a:ext cx="9098280" cy="5120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核心问题：让 Agent 不仅记住“做过什么”，还知道“当前产物状态下何时可以复用，何时必须重新决策”。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6007608"/>
            <a:ext cx="68580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DBE0"/>
                </a:solidFill>
                <a:latin typeface="Aptos"/>
              </a:rPr>
              <a:t>Terrabox  ·  Geospatial AI Agent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007608"/>
            <a:ext cx="6858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1DBE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01 ·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工具成功，不等于任务语义正确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地理空间任务的关键错误常发生在产物绑定与依赖传播层，而不是 API 是否返回 success。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Terrabox · ExperienceEvo / PromptEvo · 中期答辩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691640"/>
            <a:ext cx="27432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一个典型任务链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57400"/>
            <a:ext cx="214884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221992"/>
            <a:ext cx="185623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灾后影像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542032"/>
            <a:ext cx="185623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raster artifact
时间 = post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798064" y="2596896"/>
            <a:ext cx="17373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26664" y="2057400"/>
            <a:ext cx="214884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72968" y="2221992"/>
            <a:ext cx="185623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建筑分割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72968" y="2542032"/>
            <a:ext cx="185623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tool call
输入影像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230368" y="2596896"/>
            <a:ext cx="17373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58968" y="2057400"/>
            <a:ext cx="214884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2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5272" y="2221992"/>
            <a:ext cx="185623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建筑 mask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2542032"/>
            <a:ext cx="185623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derived artifact
来源可追溯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62672" y="2596896"/>
            <a:ext cx="17373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91272" y="2057400"/>
            <a:ext cx="214884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6" y="2221992"/>
            <a:ext cx="185623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变化分析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6" y="2542032"/>
            <a:ext cx="185623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downstream use
面积 / 差异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977639"/>
            <a:ext cx="3429000" cy="132588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4069079"/>
            <a:ext cx="31546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8FA6"/>
                </a:solidFill>
                <a:latin typeface="Noto Sans CJK SC"/>
              </a:rPr>
              <a:t>API 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4370831"/>
            <a:ext cx="315468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313D"/>
                </a:solidFill>
                <a:latin typeface="Noto Sans CJK SC"/>
              </a:rPr>
              <a:t>工具是否执行成功？
通常可以观察到。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0832" y="3977639"/>
            <a:ext cx="3429000" cy="132588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069079"/>
            <a:ext cx="31546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D8936"/>
                </a:solidFill>
                <a:latin typeface="Noto Sans CJK SC"/>
              </a:rPr>
              <a:t>依赖层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370831"/>
            <a:ext cx="315468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313D"/>
                </a:solidFill>
                <a:latin typeface="Noto Sans CJK SC"/>
              </a:rPr>
              <a:t>输入文件、图层、时间、单位、CRS
是否绑定到正确产物？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28431" y="3977639"/>
            <a:ext cx="3429000" cy="132588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5592" y="4069079"/>
            <a:ext cx="315468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705DA4"/>
                </a:solidFill>
                <a:latin typeface="Noto Sans CJK SC"/>
              </a:rPr>
              <a:t>语义层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65592" y="4370831"/>
            <a:ext cx="3154680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313D"/>
                </a:solidFill>
                <a:latin typeface="Noto Sans CJK SC"/>
              </a:rPr>
              <a:t>输出是否真的满足当前任务
以及后续分析的语义约束？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96712"/>
            <a:ext cx="106984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74E"/>
                </a:solidFill>
                <a:latin typeface="Noto Sans CJK SC"/>
              </a:rPr>
              <a:t>研究问题：如何从真实 rollout 中积累可复用经验，并让 Agent 判断经验在当前 artifact state 下是否适用？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02 · RELATED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近期方法已经分别推进：记忆、经验效用与信用分配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我们的切入点是把这些问题放回真实地理空间产物依赖图中。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Related work: GiGPO 2025 · Memory-R1 2025 · MemRL 2026 · GACA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920240"/>
            <a:ext cx="2487168" cy="2331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2084831"/>
            <a:ext cx="621792" cy="256032"/>
          </a:xfrm>
          <a:prstGeom prst="round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93975"/>
            <a:ext cx="621792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487168"/>
            <a:ext cx="2148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74E"/>
                </a:solidFill>
                <a:latin typeface="Aptos"/>
              </a:rPr>
              <a:t>GiGPO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2907792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13D"/>
                </a:solidFill>
                <a:latin typeface="Noto Sans CJK SC"/>
              </a:rPr>
              <a:t>episode + step-level
credit assignment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0392" y="3666744"/>
            <a:ext cx="2103120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0392" y="3767328"/>
            <a:ext cx="2148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05DA4"/>
                </a:solidFill>
                <a:latin typeface="Noto Sans CJK SC"/>
              </a:rPr>
              <a:t>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041648"/>
            <a:ext cx="2148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缺少 artifact provenance
与语义绑定检查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02152" y="1920240"/>
            <a:ext cx="2487168" cy="2331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66744" y="2084831"/>
            <a:ext cx="621792" cy="256032"/>
          </a:xfrm>
          <a:prstGeom prst="round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66744" y="2093975"/>
            <a:ext cx="621792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66744" y="2487168"/>
            <a:ext cx="2148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74E"/>
                </a:solidFill>
                <a:latin typeface="Aptos"/>
              </a:rPr>
              <a:t>Memory-R1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2907792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13D"/>
                </a:solidFill>
                <a:latin typeface="Noto Sans CJK SC"/>
              </a:rPr>
              <a:t>RL 学习 ADD / UPDATE /
DELETE / NOOP memory actions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666744" y="3666744"/>
            <a:ext cx="2103120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666744" y="3767328"/>
            <a:ext cx="2148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D8936"/>
                </a:solidFill>
                <a:latin typeface="Noto Sans CJK SC"/>
              </a:rPr>
              <a:t>Gap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4041648"/>
            <a:ext cx="2148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关注记忆管理，
不是长工具链责任分配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8504" y="1920240"/>
            <a:ext cx="2487168" cy="2331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83096" y="2084831"/>
            <a:ext cx="621792" cy="256032"/>
          </a:xfrm>
          <a:prstGeom prst="round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2093975"/>
            <a:ext cx="621792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2487168"/>
            <a:ext cx="2148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74E"/>
                </a:solidFill>
                <a:latin typeface="Aptos"/>
              </a:rPr>
              <a:t>MemRL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2907792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13D"/>
                </a:solidFill>
                <a:latin typeface="Noto Sans CJK SC"/>
              </a:rPr>
              <a:t>semantic relevance +
Q-value utility retrieval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6" y="3666744"/>
            <a:ext cx="2103120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483096" y="3767328"/>
            <a:ext cx="2148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88FA6"/>
                </a:solidFill>
                <a:latin typeface="Noto Sans CJK SC"/>
              </a:rPr>
              <a:t>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3096" y="4041648"/>
            <a:ext cx="2148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学习检索效用，
经验内部边界仍隐式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34856" y="1920240"/>
            <a:ext cx="2487168" cy="2331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2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99448" y="2084831"/>
            <a:ext cx="621792" cy="256032"/>
          </a:xfrm>
          <a:prstGeom prst="roundRect">
            <a:avLst/>
          </a:prstGeom>
          <a:solidFill>
            <a:srgbClr val="52B69A"/>
          </a:solidFill>
          <a:ln w="6350">
            <a:solidFill>
              <a:srgbClr val="52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9448" y="2093975"/>
            <a:ext cx="621792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9448" y="2487168"/>
            <a:ext cx="21488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374E"/>
                </a:solidFill>
                <a:latin typeface="Aptos"/>
              </a:rPr>
              <a:t>GACA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8" y="2907792"/>
            <a:ext cx="2148840" cy="6217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6313D"/>
                </a:solidFill>
                <a:latin typeface="Noto Sans CJK SC"/>
              </a:rPr>
              <a:t>adaptive granularity
for long-horizon credit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99448" y="3666744"/>
            <a:ext cx="2103120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99448" y="3767328"/>
            <a:ext cx="21488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52B69A"/>
                </a:solidFill>
                <a:latin typeface="Noto Sans CJK SC"/>
              </a:rPr>
              <a:t>Gap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9448" y="4041648"/>
            <a:ext cx="214884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信用粒度自适应，
未建模持久经验边界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736592"/>
            <a:ext cx="10835640" cy="98755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4956048"/>
            <a:ext cx="10314432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374E"/>
                </a:solidFill>
                <a:latin typeface="Noto Sans CJK SC"/>
              </a:rPr>
              <a:t>Research gap  →  近期工作通常分别学习“存什么 / 取什么 / 如何分配 credit”，但尚未统一建模“产物来源—语义绑定—经验适用边界”。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03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两类自进化对象：动态经验与静态协议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ExperienceEvo 解决“当前状态下怎么继续”；PromptEvo 解决“跨任务通用协议如何更新”。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Terrabox · ExperienceEvo / PromptEvo · 中期答辩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19072"/>
            <a:ext cx="5257800" cy="4251960"/>
          </a:xfrm>
          <a:prstGeom prst="roundRect">
            <a:avLst/>
          </a:prstGeom>
          <a:solidFill>
            <a:srgbClr val="EFF9FA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38528"/>
            <a:ext cx="1444752" cy="256032"/>
          </a:xfrm>
          <a:prstGeom prst="round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47672"/>
            <a:ext cx="1444752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ExperienceEvo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50008"/>
            <a:ext cx="46634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74E"/>
                </a:solidFill>
                <a:latin typeface="Noto Sans CJK SC"/>
              </a:rPr>
              <a:t>动态、状态相关的经验自进化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artifact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当前已有产物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066544" y="3557015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24028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2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retrieve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8658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state filter + RRF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12463" y="3557015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8620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3250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250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step hint + verifier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4910328"/>
            <a:ext cx="45720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786"/>
                </a:solidFill>
                <a:latin typeface="Noto Sans CJK SC"/>
              </a:rPr>
              <a:t>v4-clean：已完成
Boundary：训练侧已完成，OEA 全量评测中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719072"/>
            <a:ext cx="5257800" cy="4251960"/>
          </a:xfrm>
          <a:prstGeom prst="roundRect">
            <a:avLst/>
          </a:prstGeom>
          <a:solidFill>
            <a:srgbClr val="FFF7ED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64808" y="1938528"/>
            <a:ext cx="1234440" cy="256032"/>
          </a:xfrm>
          <a:prstGeom prst="round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1947672"/>
            <a:ext cx="123444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PromptEvo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2350008"/>
            <a:ext cx="4663440" cy="29260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74E"/>
                </a:solidFill>
                <a:latin typeface="Noto Sans CJK SC"/>
              </a:rPr>
              <a:t>静态、任务无关的协议自进化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failure trace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失败归因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2066544" y="3557015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24028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8658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typed patch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8658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受类型约束补丁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712463" y="3557015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886200" y="3017520"/>
            <a:ext cx="14173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32504" y="3182112"/>
            <a:ext cx="11247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2504" y="3502152"/>
            <a:ext cx="11247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accept / reject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4910328"/>
            <a:ext cx="457200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57786"/>
                </a:solidFill>
                <a:latin typeface="Noto Sans CJK SC"/>
              </a:rPr>
              <a:t>Stage1 / Stage2：已有对照结果
RL：下一步把 provenance 内化进策略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04 ·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ExperienceEvo v4-clean：把历史轨迹抽象成可执行状态转移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经验不是一段长文本案例，而是“在什么产物状态下，执行什么工具动作，得到什么产物”。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Terrabox · ExperienceEvo / PromptEvo · 中期答辩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084832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Real rollouts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04872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2000 LongCat
rollout-only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2459736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920240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2B6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084832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Transition mining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404872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input / output
artifact + Q/N/R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01184" y="2459736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1920240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084832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State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404872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precondition
first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41464" y="2459736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920240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084832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404872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BM25 + structured
RRF + risk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459736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1920240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2084832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Runtime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404872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step hint +
evidence verifier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" y="4160520"/>
            <a:ext cx="10698480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379976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88FA6"/>
                </a:solidFill>
                <a:latin typeface="Noto Sans CJK SC"/>
              </a:rPr>
              <a:t>关键约束</a:t>
            </a:r>
          </a:p>
        </p:txBody>
      </p:sp>
      <p:sp>
        <p:nvSpPr>
          <p:cNvPr id="31" name="Oval 30"/>
          <p:cNvSpPr/>
          <p:nvPr/>
        </p:nvSpPr>
        <p:spPr>
          <a:xfrm>
            <a:off x="2788920" y="4361688"/>
            <a:ext cx="100584" cy="100584"/>
          </a:xfrm>
          <a:prstGeom prst="ellipse">
            <a:avLst/>
          </a:prstGeom>
          <a:solidFill>
            <a:srgbClr val="18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90088" y="4279392"/>
            <a:ext cx="79827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313D"/>
                </a:solidFill>
                <a:latin typeface="Noto Sans CJK SC"/>
              </a:rPr>
              <a:t>不读取 task type、expected tools、gold answer、gold tool calls</a:t>
            </a:r>
          </a:p>
        </p:txBody>
      </p:sp>
      <p:sp>
        <p:nvSpPr>
          <p:cNvPr id="33" name="Oval 32"/>
          <p:cNvSpPr/>
          <p:nvPr/>
        </p:nvSpPr>
        <p:spPr>
          <a:xfrm>
            <a:off x="2788920" y="4645151"/>
            <a:ext cx="100584" cy="100584"/>
          </a:xfrm>
          <a:prstGeom prst="ellipse">
            <a:avLst/>
          </a:prstGeom>
          <a:solidFill>
            <a:srgbClr val="18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4562855"/>
            <a:ext cx="79827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313D"/>
                </a:solidFill>
                <a:latin typeface="Noto Sans CJK SC"/>
              </a:rPr>
              <a:t>先判断当前是否已有可消费产物，再进行语义相似度和可靠性排序</a:t>
            </a:r>
          </a:p>
        </p:txBody>
      </p:sp>
      <p:sp>
        <p:nvSpPr>
          <p:cNvPr id="35" name="Oval 34"/>
          <p:cNvSpPr/>
          <p:nvPr/>
        </p:nvSpPr>
        <p:spPr>
          <a:xfrm>
            <a:off x="2788920" y="4928615"/>
            <a:ext cx="100584" cy="100584"/>
          </a:xfrm>
          <a:prstGeom prst="ellipse">
            <a:avLst/>
          </a:prstGeom>
          <a:solidFill>
            <a:srgbClr val="188F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4846319"/>
            <a:ext cx="79827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6313D"/>
                </a:solidFill>
                <a:latin typeface="Noto Sans CJK SC"/>
              </a:rPr>
              <a:t>Verifier 只检查真实 rollout 的工具输出和证据闭合，不强行套用数据集 gold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05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ExperienceEvo v4-clean：主要收益来自工具链可靠性与效率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LongCat · OEA test 1162 · matched tool configuration；普通文本答案口径单独报告。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OEA full eval · LongCat · n=1162 · Base vs ExperienceEvo v4-clean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83080"/>
            <a:ext cx="2148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01952"/>
            <a:ext cx="1874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Task success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22895"/>
            <a:ext cx="547085" cy="250656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2785151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86.9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96796" y="2600664"/>
            <a:ext cx="547085" cy="672887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41932" y="2362920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92.51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14500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v4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3456432"/>
            <a:ext cx="18745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1783080"/>
            <a:ext cx="2148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901952"/>
            <a:ext cx="1874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Answer w/ gen.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18688" y="3100387"/>
            <a:ext cx="547085" cy="173164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63824" y="2862643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66.2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36392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01084" y="2523172"/>
            <a:ext cx="547085" cy="750379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46220" y="2285428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76.06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18788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v4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456432"/>
            <a:ext cx="18745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66944" y="1783080"/>
            <a:ext cx="2148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3248" y="1901952"/>
            <a:ext cx="1874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Tool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2975" y="2523172"/>
            <a:ext cx="547085" cy="750379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68112" y="2285428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15.4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79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5371" y="3100387"/>
            <a:ext cx="547085" cy="173164"/>
          </a:xfrm>
          <a:prstGeom prst="rect">
            <a:avLst/>
          </a:prstGeom>
          <a:solidFill>
            <a:srgbClr val="C74153"/>
          </a:solidFill>
          <a:ln w="6350">
            <a:solidFill>
              <a:srgbClr val="C7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0507" y="2862643"/>
            <a:ext cx="6568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9.6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3075" y="3346704"/>
            <a:ext cx="71167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v4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13248" y="3456432"/>
            <a:ext cx="18745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 · lower is better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71231" y="1783080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17536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Tools / task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27264" y="2523172"/>
            <a:ext cx="447873" cy="750379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2285428"/>
            <a:ext cx="55760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6.48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968" y="3346704"/>
            <a:ext cx="6124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3100387"/>
            <a:ext cx="447873" cy="173164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94776" y="2862643"/>
            <a:ext cx="55760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4.8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3346704"/>
            <a:ext cx="6124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v4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3456432"/>
            <a:ext cx="155448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count · lower is better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55480" y="1783080"/>
            <a:ext cx="18288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01784" y="1901952"/>
            <a:ext cx="1554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Time / task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1512" y="2523172"/>
            <a:ext cx="447873" cy="750379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56648" y="2285428"/>
            <a:ext cx="55760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336.4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9216" y="3346704"/>
            <a:ext cx="6124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33888" y="3100387"/>
            <a:ext cx="447873" cy="173164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79024" y="2862643"/>
            <a:ext cx="55760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268.1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1592" y="3346704"/>
            <a:ext cx="61246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v4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01784" y="3456432"/>
            <a:ext cx="155448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seconds · lower is better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069080"/>
            <a:ext cx="10698480" cy="1261872"/>
          </a:xfrm>
          <a:prstGeom prst="roundRect">
            <a:avLst/>
          </a:prstGeom>
          <a:solidFill>
            <a:srgbClr val="EFF9FA"/>
          </a:solidFill>
          <a:ln w="1524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9264" y="4315968"/>
            <a:ext cx="1993392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8FA6"/>
                </a:solidFill>
                <a:latin typeface="Noto Sans CJK SC"/>
              </a:rPr>
              <a:t>主结论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8920" y="4224528"/>
            <a:ext cx="82753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74E"/>
                </a:solidFill>
                <a:latin typeface="Noto Sans CJK SC"/>
              </a:rPr>
              <a:t>Success +5.61pp · Tool error −5.8pp · Tools/task −1.68 · Time/task −68.3s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7552" y="4965192"/>
            <a:ext cx="102412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57786"/>
                </a:solidFill>
                <a:latin typeface="Noto Sans CJK SC"/>
              </a:rPr>
              <a:t>普通 answer_acc：49.67% → 49.32%，因此结论限定为“工具链可靠性、序列匹配与效率提升”，不宣称所有最终文本答案提升。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06 · MECHANISM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为什么有效：检索质量、逐步提示与证据校验共同作用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固定 200 条子集和全量 rollout diagnostics 用于机制观察，不能与 1162 主表混做差值。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Terrabox · ExperienceEvo / PromptEvo · 中期答辩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901952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Set F1 · diagnostic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9264" y="2675766"/>
            <a:ext cx="275527" cy="734945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38022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0.774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Full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13662" y="2722531"/>
            <a:ext cx="275527" cy="688180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8798" y="2484787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1366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−QNR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58060" y="3084953"/>
            <a:ext cx="275527" cy="325758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03196" y="2847209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0.739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5764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−hint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02459" y="2921278"/>
            <a:ext cx="275527" cy="489433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7595" y="2683534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0.753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0163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6857" y="3014806"/>
            <a:ext cx="275527" cy="395905"/>
          </a:xfrm>
          <a:prstGeom prst="rect">
            <a:avLst/>
          </a:prstGeom>
          <a:solidFill>
            <a:srgbClr val="C74153"/>
          </a:solidFill>
          <a:ln w="6350">
            <a:solidFill>
              <a:srgbClr val="C7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91993" y="2777062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0.745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64561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Random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593592"/>
            <a:ext cx="23317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02152" y="178308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48456" y="1901952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Ordered exact (%)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58183" y="2575948"/>
            <a:ext cx="275527" cy="834763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03320" y="2338204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34.2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75887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Full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2582" y="2548889"/>
            <a:ext cx="275527" cy="861822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7718" y="2311146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34.6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20286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−QNR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46980" y="3211830"/>
            <a:ext cx="275527" cy="198882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2116" y="2974086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24.8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4684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−hint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91379" y="2961536"/>
            <a:ext cx="275527" cy="449175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36515" y="2723792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28.5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9083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−ver.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35777" y="2778889"/>
            <a:ext cx="275527" cy="631822"/>
          </a:xfrm>
          <a:prstGeom prst="rect">
            <a:avLst/>
          </a:prstGeom>
          <a:solidFill>
            <a:srgbClr val="C74153"/>
          </a:solidFill>
          <a:ln w="6350">
            <a:solidFill>
              <a:srgbClr val="C7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0913" y="2541145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31.2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53481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Random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3593592"/>
            <a:ext cx="23317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91072" y="1783080"/>
            <a:ext cx="26060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37376" y="1901952"/>
            <a:ext cx="23317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Success (%)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47103" y="2663697"/>
            <a:ext cx="275527" cy="747014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2425953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92.5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7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Full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91502" y="2663697"/>
            <a:ext cx="275527" cy="747014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36638" y="2425953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92.5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09206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−QNR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35900" y="3097022"/>
            <a:ext cx="275527" cy="313689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81036" y="2859278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87.9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53604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−hint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80299" y="2701377"/>
            <a:ext cx="275527" cy="709334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25435" y="2463633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92.1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8003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−ver.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24697" y="2908620"/>
            <a:ext cx="275527" cy="502091"/>
          </a:xfrm>
          <a:prstGeom prst="rect">
            <a:avLst/>
          </a:prstGeom>
          <a:solidFill>
            <a:srgbClr val="C74153"/>
          </a:solidFill>
          <a:ln w="6350">
            <a:solidFill>
              <a:srgbClr val="C7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69833" y="2670876"/>
            <a:ext cx="38525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89.9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42401" y="3483864"/>
            <a:ext cx="44011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Random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37376" y="3593592"/>
            <a:ext cx="233172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144000" y="1783080"/>
            <a:ext cx="2331720" cy="2011680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1874519"/>
            <a:ext cx="205740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D8936"/>
                </a:solidFill>
                <a:latin typeface="Noto Sans CJK SC"/>
              </a:rPr>
              <a:t>答辩解读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2176272"/>
            <a:ext cx="2057400" cy="1536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313D"/>
                </a:solidFill>
                <a:latin typeface="Noto Sans CJK SC"/>
              </a:rPr>
              <a:t>去掉 step hint 后序列匹配和 Success 明显下降；随机检索也退化。QNR 的单独绝对差异较小，不夸大为强因果。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31520" y="4224528"/>
            <a:ext cx="10698480" cy="98755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2" y="4462272"/>
            <a:ext cx="1024128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374E"/>
                </a:solidFill>
                <a:latin typeface="Noto Sans CJK SC"/>
              </a:rPr>
              <a:t>机制证据：状态约束避免不可消费经验，step hint 改善下一步决策，verifier 负责在真实产物链上检查证据是否闭合。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07 ·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Boundary：从“检索什么经验”推进到“经验何时适用”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独立模式：父 v4-clean store 只读，规则在 OEA test 前冻结，未知条件保留 ReAct fallback。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Terrabox · ExperienceEvo / PromptEvo · 中期答辩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2011680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Parent 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331720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v4-clean read-only
803 families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60904" y="2386584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34640" y="1847088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80944" y="2011680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Counterexamples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331720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semantic preserving
changing / breaking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01184" y="2386584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74920" y="1847088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1224" y="2011680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Proposer + Auditor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2331720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662 paired audits
44 real replays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41464" y="2386584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0" y="1847088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41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011680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Boundary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331720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add / split /
quarantine / defer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386584"/>
            <a:ext cx="118872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55480" y="1847088"/>
            <a:ext cx="201168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01784" y="2011680"/>
            <a:ext cx="171907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Frozen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01784" y="2331720"/>
            <a:ext cx="171907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1162 OEA tasks
full real 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8" y="4041648"/>
            <a:ext cx="10698480" cy="126187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4251960"/>
            <a:ext cx="19659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705DA4"/>
                </a:solidFill>
                <a:latin typeface="Noto Sans CJK SC"/>
              </a:rPr>
              <a:t>训练侧已冻结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160520"/>
            <a:ext cx="8183879" cy="438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374E"/>
                </a:solidFill>
                <a:latin typeface="Noto Sans CJK SC"/>
              </a:rPr>
              <a:t>697 active rules · 455 conditioned families · 11 accepted conditions · 13,331 evidence · 21 family splits · 106 quarantines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26080" y="5413248"/>
            <a:ext cx="6309360" cy="256032"/>
          </a:xfrm>
          <a:prstGeom prst="round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80" y="5422392"/>
            <a:ext cx="6309360" cy="21031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当前状态：full_eval · 已落盘 766/1162 条 · 规则冻结 · 最终指标待评测完成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08 · PROMPTEVO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PromptEvo：把失败轨迹编译成受保护的协议补丁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动态经验面向当前 artifact state；PromptEvo 面向跨任务通用的工具使用协议。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ToolBench strict frozen test · 160 tasks · LongCat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55648"/>
            <a:ext cx="23317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" y="1920240"/>
            <a:ext cx="20391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Failure trace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240280"/>
            <a:ext cx="20391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failure attribution
真实 rollout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80944" y="2295144"/>
            <a:ext cx="21945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55263" y="1755648"/>
            <a:ext cx="23317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01568" y="1920240"/>
            <a:ext cx="20391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Typed patch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2240280"/>
            <a:ext cx="20391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tool / args / recovery
termination / answer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641847" y="2295144"/>
            <a:ext cx="21945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16168" y="1755648"/>
            <a:ext cx="23317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62472" y="1920240"/>
            <a:ext cx="20391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Compiler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62472" y="2240280"/>
            <a:ext cx="20391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deterministic
static protocol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302752" y="2295144"/>
            <a:ext cx="219456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77072" y="1755648"/>
            <a:ext cx="2331720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23376" y="1920240"/>
            <a:ext cx="2039112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3376" y="2240280"/>
            <a:ext cx="2039112" cy="7589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paired regression
accept / reject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675887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3794759"/>
            <a:ext cx="2971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Success (%)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4704588"/>
            <a:ext cx="591494" cy="461771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4466844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86.25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59863" y="4533334"/>
            <a:ext cx="591494" cy="633025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04999" y="4295590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88.12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7568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13888" y="4875841"/>
            <a:ext cx="591494" cy="290518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9024" y="4638097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84.38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1592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5349240"/>
            <a:ext cx="297180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3675887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7136" y="3794759"/>
            <a:ext cx="2971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Tool error (%)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4415980"/>
            <a:ext cx="591494" cy="750379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178236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14.37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44568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80887" y="4993195"/>
            <a:ext cx="591494" cy="173164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26024" y="4755451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7.5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98591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34911" y="4783146"/>
            <a:ext cx="591494" cy="383213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80047" y="4545402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2615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17136" y="5349240"/>
            <a:ext cx="297180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 · lower is better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91856" y="3675887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3794759"/>
            <a:ext cx="2971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Avg tools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47888" y="4698313"/>
            <a:ext cx="591494" cy="468046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3024" y="4460569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5.14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65592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01912" y="4993195"/>
            <a:ext cx="591494" cy="173164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7048" y="4755451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4.67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19616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55936" y="4415980"/>
            <a:ext cx="591494" cy="750379"/>
          </a:xfrm>
          <a:prstGeom prst="rect">
            <a:avLst/>
          </a:prstGeom>
          <a:solidFill>
            <a:srgbClr val="ED8936"/>
          </a:solidFill>
          <a:ln w="635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01072" y="4178236"/>
            <a:ext cx="70122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5.59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73640" y="5239512"/>
            <a:ext cx="75608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Stage2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38160" y="5349240"/>
            <a:ext cx="297180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count · lower is better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06424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88FA6"/>
                </a:solidFill>
                <a:latin typeface="Aptos"/>
              </a:rPr>
              <a:t>09 · AGENTIC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10642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4374E"/>
                </a:solidFill>
                <a:latin typeface="Noto Sans CJK SC"/>
              </a:rPr>
              <a:t>RL：已完成 Pure GRPO 基线，下一步做 provenance-aware credit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042415"/>
            <a:ext cx="10789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57786"/>
                </a:solidFill>
                <a:latin typeface="Noto Sans CJK SC"/>
              </a:rPr>
              <a:t>当前 RL 结果用于暴露 episode-level reward 的局限；方案 A 尚未实现，不把设计写成结果。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1399032"/>
            <a:ext cx="11045952" cy="0"/>
          </a:xfrm>
          <a:prstGeom prst="line">
            <a:avLst/>
          </a:prstGeom>
          <a:ln w="1397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292840" y="3200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57786"/>
                </a:solidFill>
                <a:latin typeface="Apto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6519672"/>
            <a:ext cx="11045952" cy="0"/>
          </a:xfrm>
          <a:prstGeom prst="line">
            <a:avLst/>
          </a:prstGeom>
          <a:ln w="10160">
            <a:solidFill>
              <a:srgbClr val="D8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5216" y="6565392"/>
            <a:ext cx="86868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Noto Sans CJK SC"/>
              </a:rPr>
              <a:t>Qwen2.5-3B · OEA full eval · online tool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65392"/>
            <a:ext cx="457200" cy="14630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57786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55648"/>
            <a:ext cx="2971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874519"/>
            <a:ext cx="2697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Success (%)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" y="2806860"/>
            <a:ext cx="534802" cy="411827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569116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71.86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50136" y="2935789"/>
            <a:ext cx="534802" cy="282898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5272" y="2698045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70.65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7840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2720" y="2605474"/>
            <a:ext cx="534802" cy="613213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7856" y="2367730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73.75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0424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GRPO+Exp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3401568"/>
            <a:ext cx="269748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58768" y="1755648"/>
            <a:ext cx="2971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1874519"/>
            <a:ext cx="2697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Tool error (%)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9" y="2536999"/>
            <a:ext cx="534802" cy="681688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59935" y="2299255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48.45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2503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77383" y="2490597"/>
            <a:ext cx="534802" cy="728091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22520" y="2252853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49.74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5087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39967" y="3050667"/>
            <a:ext cx="534802" cy="168020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85104" y="2812923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34.17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57671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GRPO+Exp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05072" y="3401568"/>
            <a:ext cx="269748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% · lower is better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86016" y="1755648"/>
            <a:ext cx="2971800" cy="18470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1874519"/>
            <a:ext cx="26974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374E"/>
                </a:solidFill>
                <a:latin typeface="Noto Sans CJK SC"/>
              </a:rPr>
              <a:t>Set F1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42047" y="2726943"/>
            <a:ext cx="534802" cy="491744"/>
          </a:xfrm>
          <a:prstGeom prst="rect">
            <a:avLst/>
          </a:prstGeom>
          <a:solidFill>
            <a:srgbClr val="14374E"/>
          </a:solidFill>
          <a:ln w="635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87183" y="2489199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0.5142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9751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04632" y="2814320"/>
            <a:ext cx="534802" cy="404367"/>
          </a:xfrm>
          <a:prstGeom prst="rect">
            <a:avLst/>
          </a:prstGeom>
          <a:solidFill>
            <a:srgbClr val="705DA4"/>
          </a:solidFill>
          <a:ln w="635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9767" y="2576576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0.5102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2336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7216" y="2737865"/>
            <a:ext cx="534802" cy="480822"/>
          </a:xfrm>
          <a:prstGeom prst="rect">
            <a:avLst/>
          </a:prstGeom>
          <a:solidFill>
            <a:srgbClr val="188FA6"/>
          </a:solidFill>
          <a:ln w="6350">
            <a:solidFill>
              <a:srgbClr val="188F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2352" y="2500121"/>
            <a:ext cx="64453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4374E"/>
                </a:solidFill>
                <a:latin typeface="Aptos"/>
              </a:rPr>
              <a:t>0.5137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4920" y="3291840"/>
            <a:ext cx="69939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57786"/>
                </a:solidFill>
                <a:latin typeface="Noto Sans CJK SC"/>
              </a:rPr>
              <a:t>GRPO+Exp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3401568"/>
            <a:ext cx="2697480" cy="12801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657786"/>
                </a:solidFill>
                <a:latin typeface="Noto Sans CJK SC"/>
              </a:rPr>
              <a:t>score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13264" y="1755648"/>
            <a:ext cx="1325880" cy="1847088"/>
          </a:xfrm>
          <a:prstGeom prst="roundRect">
            <a:avLst/>
          </a:prstGeom>
          <a:solidFill>
            <a:srgbClr val="F4F7FA"/>
          </a:solidFill>
          <a:ln w="16510">
            <a:solidFill>
              <a:srgbClr val="ED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50424" y="1847088"/>
            <a:ext cx="105156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D8936"/>
                </a:solidFill>
                <a:latin typeface="Noto Sans CJK SC"/>
              </a:rPr>
              <a:t>结论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50424" y="2148840"/>
            <a:ext cx="105156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6313D"/>
                </a:solidFill>
                <a:latin typeface="Noto Sans CJK SC"/>
              </a:rPr>
              <a:t>Pure GRPO 未稳定超过 Base；经验增强显著降低 tool error。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" y="4023360"/>
            <a:ext cx="2743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374E"/>
                </a:solidFill>
                <a:latin typeface="Noto Sans CJK SC"/>
              </a:rPr>
              <a:t>普通 GRPO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16552"/>
            <a:ext cx="1874519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" y="4581144"/>
            <a:ext cx="15819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G rollouts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" y="4901183"/>
            <a:ext cx="1581911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episode reward</a:t>
            </a:r>
          </a:p>
        </p:txBody>
      </p:sp>
      <p:sp>
        <p:nvSpPr>
          <p:cNvPr id="53" name="Right Arrow 52"/>
          <p:cNvSpPr/>
          <p:nvPr/>
        </p:nvSpPr>
        <p:spPr>
          <a:xfrm>
            <a:off x="2523744" y="4956048"/>
            <a:ext cx="201168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779775" y="4416552"/>
            <a:ext cx="1874519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4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26079" y="4581144"/>
            <a:ext cx="15819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group 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926079" y="4901183"/>
            <a:ext cx="1581911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broadcast to
assistant tokens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72784" y="4023360"/>
            <a:ext cx="274320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5DA4"/>
                </a:solidFill>
                <a:latin typeface="Noto Sans CJK SC"/>
              </a:rPr>
              <a:t>方案 A（研究计划）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416552"/>
            <a:ext cx="1874519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0664" y="4581144"/>
            <a:ext cx="15819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provenance graph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664" y="4901183"/>
            <a:ext cx="1581911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source / semantic
/ downstream use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2523744" y="4956048"/>
            <a:ext cx="201168" cy="201168"/>
          </a:xfrm>
          <a:prstGeom prst="rightArrow">
            <a:avLst/>
          </a:prstGeom>
          <a:solidFill>
            <a:srgbClr val="14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779775" y="4416552"/>
            <a:ext cx="1874519" cy="13258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705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26079" y="4581144"/>
            <a:ext cx="1581911" cy="28346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374E"/>
                </a:solidFill>
                <a:latin typeface="Noto Sans CJK SC"/>
              </a:rPr>
              <a:t>local credit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26079" y="4901183"/>
            <a:ext cx="1581911" cy="7589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786"/>
                </a:solidFill>
                <a:latin typeface="Noto Sans CJK SC"/>
              </a:rPr>
              <a:t>align to
tool-call span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" y="5870448"/>
            <a:ext cx="1037844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657786"/>
                </a:solidFill>
                <a:latin typeface="Noto Sans CJK SC"/>
              </a:rPr>
              <a:t>创新边界：不是重新提出 GRPO 或步骤奖励，而是把可验证的 artifact provenance 转化为动作级信用，并对齐到对应工具调用 token。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7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98755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B1DBE0"/>
                </a:solidFill>
                <a:latin typeface="Aptos"/>
              </a:rPr>
              <a:t>10 ·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07040" cy="49377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Noto Sans CJK SC"/>
              </a:rPr>
              <a:t>结论、局限与下一步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1463040"/>
            <a:ext cx="10817352" cy="0"/>
          </a:xfrm>
          <a:prstGeom prst="line">
            <a:avLst/>
          </a:prstGeom>
          <a:ln w="12700">
            <a:solidFill>
              <a:srgbClr val="3E7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58952" y="1847088"/>
            <a:ext cx="5029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8FA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847088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v4-clean 已验证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5887" y="1847088"/>
            <a:ext cx="74980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9EC"/>
                </a:solidFill>
                <a:latin typeface="Noto Sans CJK SC"/>
              </a:rPr>
              <a:t>产物状态经验能改善真实长工具链的 success、序列匹配、错误率与执行效率。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44752" y="2468880"/>
            <a:ext cx="9692640" cy="0"/>
          </a:xfrm>
          <a:prstGeom prst="line">
            <a:avLst/>
          </a:prstGeom>
          <a:ln w="10160">
            <a:solidFill>
              <a:srgbClr val="3E7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58952" y="2743200"/>
            <a:ext cx="5029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ED8936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743200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Boundary 正在验证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743200"/>
            <a:ext cx="74980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9EC"/>
                </a:solidFill>
                <a:latin typeface="Noto Sans CJK SC"/>
              </a:rPr>
              <a:t>反例驱动的边界模式已完成训练侧构建并冻结测试；最终 OEA 指标待完整评测结束。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364992"/>
            <a:ext cx="9692640" cy="0"/>
          </a:xfrm>
          <a:prstGeom prst="line">
            <a:avLst/>
          </a:prstGeom>
          <a:ln w="10160">
            <a:solidFill>
              <a:srgbClr val="3E7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58952" y="3639312"/>
            <a:ext cx="5029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2B69A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639312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PromptEvo 已验证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3639312"/>
            <a:ext cx="74980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9EC"/>
                </a:solidFill>
                <a:latin typeface="Noto Sans CJK SC"/>
              </a:rPr>
              <a:t>typed protocol patch 能改善部分严格划分，但演化非单调，因此 gate / rollback 是必要机制。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444752" y="4261104"/>
            <a:ext cx="9692640" cy="0"/>
          </a:xfrm>
          <a:prstGeom prst="line">
            <a:avLst/>
          </a:prstGeom>
          <a:ln w="10160">
            <a:solidFill>
              <a:srgbClr val="3E7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58952" y="4535424"/>
            <a:ext cx="5029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05DA4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535424"/>
            <a:ext cx="21488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Noto Sans CJK SC"/>
              </a:rPr>
              <a:t>RL 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7" y="4535424"/>
            <a:ext cx="7498079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9EC"/>
                </a:solidFill>
                <a:latin typeface="Noto Sans CJK SC"/>
              </a:rPr>
              <a:t>将 provenance 检查转化为工具调用级信用，推动经验约束从上下文注入走向策略内化。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44752" y="5157216"/>
            <a:ext cx="9692640" cy="0"/>
          </a:xfrm>
          <a:prstGeom prst="line">
            <a:avLst/>
          </a:prstGeom>
          <a:ln w="10160">
            <a:solidFill>
              <a:srgbClr val="3E75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49808" y="5779008"/>
            <a:ext cx="1069848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Noto Sans CJK SC"/>
              </a:rPr>
              <a:t>谢谢 ·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089904"/>
            <a:ext cx="5029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B1DBE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面向地理空间多工具 Agent 的经验自进化与协议自进化</dc:title>
  <dc:subject>ExperienceEvo, PromptEvo, Boundary, Agentic RL mid-term defense</dc:subject>
  <dc:creator>Terrabox</dc:creator>
  <cp:keywords/>
  <dc:description>Native editable PPTX generated from reproducible source.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