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737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7F73"/>
                </a:solidFill>
                <a:latin typeface="Aptos"/>
              </a:rPr>
              <a:t>中期答辩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7899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16212B"/>
                </a:solidFill>
                <a:latin typeface="Aptos"/>
              </a:rPr>
              <a:t>面向工具增强 Agent 的
可审计自进化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423160"/>
            <a:ext cx="9875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D6975"/>
                </a:solidFill>
                <a:latin typeface="Aptos"/>
              </a:rPr>
              <a:t>ExperienceEvo：产品状态转移经验    |    PromptEvo：静态行为协议演化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944368"/>
            <a:ext cx="5029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研究对象：多工具地理空间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310128"/>
            <a:ext cx="5943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Aptos"/>
              </a:rPr>
              <a:t>当前阶段：方法与实验协议已形成，正式证据正在冻结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60520"/>
            <a:ext cx="5166360" cy="132588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160520"/>
            <a:ext cx="64008" cy="1325880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279392"/>
            <a:ext cx="49103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16212B"/>
                </a:solidFill>
                <a:latin typeface="Aptos"/>
              </a:rPr>
              <a:t>ExperienceEvo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645152"/>
            <a:ext cx="48920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Aptos"/>
              </a:rPr>
              <a:t>从 rollout 提炼可复用的产品状态转移；在线以当前状态检索并给出软指导。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4160520"/>
            <a:ext cx="5166360" cy="1325880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4160520"/>
            <a:ext cx="64008" cy="1325880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4279392"/>
            <a:ext cx="49103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16212B"/>
                </a:solidFill>
                <a:latin typeface="Aptos"/>
              </a:rPr>
              <a:t>PromptEvo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4645152"/>
            <a:ext cx="48920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Aptos"/>
              </a:rPr>
              <a:t>从同任务对比轨迹提出小型静态协议补丁；经编译审计和开发集接受门筛选。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53328"/>
            <a:ext cx="8229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Aptos"/>
              </a:rPr>
              <a:t>答辩重点：方法机制、可证伪边界、实验闭环与下一步计划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7F73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答辩路线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603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16212B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316736"/>
            <a:ext cx="9738360" cy="749808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144475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共同问题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44752"/>
            <a:ext cx="6949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工具 Agent 的失败不是单一推理错误，而是状态、工具、参数、终止与评测的联动问题。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603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1769AA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432304"/>
            <a:ext cx="9738360" cy="749808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2560320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ExperienceEvo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60320"/>
            <a:ext cx="6949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以产品状态转移为最小经验单元，研究可审计的 runtime reuse。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84448"/>
            <a:ext cx="603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007F73"/>
                </a:solidFill>
                <a:latin typeface="Aptos"/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547872"/>
            <a:ext cx="9738360" cy="749808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4208" y="3675887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PromptEvo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675887"/>
            <a:ext cx="6949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以 typed behavior protocol 为更新单元，研究可控的静态 prompt 自进化。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0016"/>
            <a:ext cx="60350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663440"/>
            <a:ext cx="9738360" cy="749808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4791456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验证闭环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791456"/>
            <a:ext cx="6949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冻结配置、分解对照、任务级审计、负结果保留与投稿门槛。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7F73"/>
                </a:solidFill>
                <a:latin typeface="Aptos"/>
              </a:rPr>
              <a:t>SHARED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问题：多工具 Agent 缺少可审计的经验闭环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64008" cy="1353312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72184"/>
            <a:ext cx="31729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12B"/>
                </a:solidFill>
                <a:latin typeface="Aptos"/>
              </a:rPr>
              <a:t>状态断裂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37943"/>
            <a:ext cx="315468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历史轨迹中的产物、当前运行的 artifact 与下游参数之间经常没有显式契约。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353312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353312"/>
            <a:ext cx="64008" cy="1353312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72184"/>
            <a:ext cx="31729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12B"/>
                </a:solidFill>
                <a:latin typeface="Aptos"/>
              </a:rPr>
              <a:t>行为漂移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37943"/>
            <a:ext cx="315468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全量重写 prompt 难以定位哪条规则导致回归，也难以阻止任务特异信息进入提示词。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53312"/>
            <a:ext cx="3429000" cy="13533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353312"/>
            <a:ext cx="64008" cy="1353312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472184"/>
            <a:ext cx="31729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12B"/>
                </a:solidFill>
                <a:latin typeface="Aptos"/>
              </a:rPr>
              <a:t>证据混淆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1837943"/>
            <a:ext cx="315468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工具分数、最终答案、生成产物和服务异常常被混成单一指标。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310128"/>
            <a:ext cx="10515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16212B"/>
                </a:solidFill>
                <a:latin typeface="Aptos"/>
              </a:rPr>
              <a:t>核心立场：自进化不应等同于“保存成功轨迹”或“改写一段 prompt”。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041648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4288536"/>
            <a:ext cx="9418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07F73"/>
                </a:solidFill>
                <a:latin typeface="Aptos"/>
              </a:rPr>
              <a:t>需要同时回答三个问题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468172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6212B"/>
                </a:solidFill>
                <a:latin typeface="Aptos"/>
              </a:rPr>
              <a:t>何种历史信息可复用？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681728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6212B"/>
                </a:solidFill>
                <a:latin typeface="Aptos"/>
              </a:rPr>
              <a:t>如何在当前任务中安全使用？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4681728"/>
            <a:ext cx="24688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6212B"/>
                </a:solidFill>
                <a:latin typeface="Aptos"/>
              </a:rPr>
              <a:t>如何证明收益来源？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51960" y="4800600"/>
            <a:ext cx="320040" cy="0"/>
          </a:xfrm>
          <a:prstGeom prst="line">
            <a:avLst/>
          </a:prstGeom>
          <a:ln w="2032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26096" y="4800600"/>
            <a:ext cx="329183" cy="0"/>
          </a:xfrm>
          <a:prstGeom prst="line">
            <a:avLst/>
          </a:prstGeom>
          <a:ln w="2032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5815584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5D6975"/>
                </a:solidFill>
                <a:latin typeface="Aptos"/>
              </a:rPr>
              <a:t>两项工作分别处理 runtime 经验复用与 static behavior policy 更新，并在实验层统一采用冻结证据链。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7F73"/>
                </a:solidFill>
                <a:latin typeface="Aptos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研究定位：从经验存储和 prompt 优化走向可审计更新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127248" cy="324612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64008" cy="3246120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36192"/>
            <a:ext cx="28712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12B"/>
                </a:solidFill>
                <a:latin typeface="Aptos"/>
              </a:rPr>
              <a:t>经验/技能学习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01952"/>
            <a:ext cx="2852928" cy="2670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ExpeL, MemRL, AutoSkill, SkillRL
通常强调记忆、技能或强化学习；本工作额外显式表示产物状态、绑定和 provenance。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127248" cy="3246120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64008" cy="3246120"/>
          </a:xfrm>
          <a:prstGeom prst="rect">
            <a:avLst/>
          </a:prstGeom>
          <a:solidFill>
            <a:srgbClr val="657786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536192"/>
            <a:ext cx="28712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12B"/>
                </a:solidFill>
                <a:latin typeface="Aptos"/>
              </a:rPr>
              <a:t>工具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901952"/>
            <a:ext cx="2852928" cy="2670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ReAct, ToolLLM, OpenEarthAgent
通常关注规划、调用与工具覆盖；本工作聚焦当前产品是否足以支持下一步。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1417320"/>
            <a:ext cx="3127248" cy="3246120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1417320"/>
            <a:ext cx="64008" cy="3246120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1536192"/>
            <a:ext cx="287121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212B"/>
                </a:solidFill>
                <a:latin typeface="Aptos"/>
              </a:rPr>
              <a:t>Prompt 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1901952"/>
            <a:ext cx="2852928" cy="2670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APE, OPRO, ProTeGi, GEPA, SPRIG
通常搜索完整 prompt 或候选文本；本工作将更新限制为 typed protocol patches，并单独定义接受门。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" y="5248656"/>
            <a:ext cx="9784080" cy="685800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5468112"/>
            <a:ext cx="9235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212B"/>
                </a:solidFill>
                <a:latin typeface="Aptos"/>
              </a:rPr>
              <a:t>差异不在于“又增加一个 memory/prompt”，而在于把 provenance、接受条件、失败分母和反事实控制写进方法对象。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9144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241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ExperienceEvo：产品状态转移经验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9601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F2F7FA"/>
                </a:solidFill>
                <a:latin typeface="Aptos"/>
              </a:rPr>
              <a:t>Product-State Transition Self-Evolution for Tool-Augmented Geospatial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10607040" cy="18288"/>
          </a:xfrm>
          <a:prstGeom prst="rect">
            <a:avLst/>
          </a:prstGeom>
          <a:solidFill>
            <a:srgbClr val="BFE1F3"/>
          </a:solidFill>
          <a:ln w="10160">
            <a:solidFill>
              <a:srgbClr val="BF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目标：把有效经验表达为可验证的状态转移，而不是把历史动作序列直接复制到新任务。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EXPERIENCEEVO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ExperienceEvo：从 rollout 到当前产品状态的软指导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30759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769AA"/>
                </a:solidFill>
                <a:latin typeface="Aptos"/>
              </a:rPr>
              <a:t>OFFLINE: train rollouts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627632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627632"/>
            <a:ext cx="64008" cy="1051560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1746504"/>
            <a:ext cx="18013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Event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2112264"/>
            <a:ext cx="1783080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D6975"/>
                </a:solidFill>
                <a:latin typeface="Aptos"/>
              </a:rPr>
              <a:t>tool call + input/output product + local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1627632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90672" y="1627632"/>
            <a:ext cx="64008" cy="1051560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1746504"/>
            <a:ext cx="18013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Family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2112264"/>
            <a:ext cx="1783080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D6975"/>
                </a:solidFill>
                <a:latin typeface="Aptos"/>
              </a:rPr>
              <a:t>anonymize, group, update Q / N / 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13832" y="1627632"/>
            <a:ext cx="2057400" cy="105156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13832" y="1627632"/>
            <a:ext cx="64008" cy="1051560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8424" y="1746504"/>
            <a:ext cx="18013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Read-only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2112264"/>
            <a:ext cx="1783080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D6975"/>
                </a:solidFill>
                <a:latin typeface="Aptos"/>
              </a:rPr>
              <a:t>product contract + alternative tool policies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24912" y="2148840"/>
            <a:ext cx="347472" cy="0"/>
          </a:xfrm>
          <a:prstGeom prst="line">
            <a:avLst/>
          </a:prstGeom>
          <a:ln w="2032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48072" y="2148840"/>
            <a:ext cx="347472" cy="0"/>
          </a:xfrm>
          <a:prstGeom prst="line">
            <a:avLst/>
          </a:prstGeom>
          <a:ln w="2032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3246120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07F73"/>
                </a:solidFill>
                <a:latin typeface="Aptos"/>
              </a:rPr>
              <a:t>ONLINE: current rollout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3566160"/>
            <a:ext cx="2011680" cy="1024128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" y="3566160"/>
            <a:ext cx="64008" cy="1024128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" y="3685032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Live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" y="4050791"/>
            <a:ext cx="173736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D6975"/>
                </a:solidFill>
                <a:latin typeface="Aptos"/>
              </a:rPr>
              <a:t>current images, data, artifacts, available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90672" y="3566160"/>
            <a:ext cx="2011680" cy="1024128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90672" y="3566160"/>
            <a:ext cx="64008" cy="1024128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5264" y="3685032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5264" y="4050791"/>
            <a:ext cx="173736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D6975"/>
                </a:solidFill>
                <a:latin typeface="Aptos"/>
              </a:rPr>
              <a:t>state match + fixed heuristic + policy rank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13832" y="3566160"/>
            <a:ext cx="2011680" cy="1024128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13832" y="3566160"/>
            <a:ext cx="64008" cy="1024128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78424" y="3685032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Soft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8424" y="4050791"/>
            <a:ext cx="173736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D6975"/>
                </a:solidFill>
                <a:latin typeface="Aptos"/>
              </a:rPr>
              <a:t>current-run binding, output checks, recovery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36992" y="3566160"/>
            <a:ext cx="2011680" cy="1024128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36992" y="3566160"/>
            <a:ext cx="64008" cy="1024128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3" y="3685032"/>
            <a:ext cx="1755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Base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1583" y="4050791"/>
            <a:ext cx="173736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D6975"/>
                </a:solidFill>
                <a:latin typeface="Aptos"/>
              </a:rPr>
              <a:t>chooses action; guidance is never a forced script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79192" y="4078224"/>
            <a:ext cx="393192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02352" y="4078224"/>
            <a:ext cx="393192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25512" y="4078224"/>
            <a:ext cx="393192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572000" y="2697480"/>
            <a:ext cx="1920240" cy="822960"/>
          </a:xfrm>
          <a:prstGeom prst="line">
            <a:avLst/>
          </a:prstGeom>
          <a:ln w="2032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577072" y="1627632"/>
            <a:ext cx="2880360" cy="1051560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77072" y="1627632"/>
            <a:ext cx="64008" cy="105156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41664" y="1746504"/>
            <a:ext cx="26243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Implementation boundary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2112264"/>
            <a:ext cx="2606040" cy="4754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5D6975"/>
                </a:solidFill>
                <a:latin typeface="Aptos"/>
              </a:rPr>
              <a:t>v3 deterministic fallback may return before learned-family ranking. It is not rollout-derived experience.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4389120" y="2706624"/>
            <a:ext cx="5440680" cy="804672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5257800"/>
            <a:ext cx="1078992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16212B"/>
                </a:solidFill>
                <a:latin typeface="Aptos"/>
              </a:rPr>
              <a:t>研究假设：相对于相同 base agent，状态兼容的经验能够减少无效调用，并提高可追踪的产品链与请求产物完成度。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EXPERIENCEEVO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经验单元：产品契约，而不是历史动作脚本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212B"/>
                </a:solidFill>
                <a:latin typeface="Aptos"/>
              </a:rPr>
              <a:t>一个 transition family 以“当前已有何种可用产品 -&gt; 下一步需要产生何种产品”为核心。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874519" cy="1481328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64008" cy="1481328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1"/>
            <a:ext cx="161848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Input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1600199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已有 image / data-file / layer / measurement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4327" y="2606040"/>
            <a:ext cx="374905" cy="0"/>
          </a:xfrm>
          <a:prstGeom prst="line">
            <a:avLst/>
          </a:prstGeom>
          <a:ln w="2032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44952" y="1874519"/>
            <a:ext cx="2834640" cy="1481328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4952" y="1874519"/>
            <a:ext cx="64008" cy="1481328"/>
          </a:xfrm>
          <a:prstGeom prst="rect">
            <a:avLst/>
          </a:prstGeom>
          <a:solidFill>
            <a:srgbClr val="657786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1993391"/>
            <a:ext cx="25786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Product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359152"/>
            <a:ext cx="2560320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preconditions | output checks | current-run binding | recovery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2606040"/>
            <a:ext cx="402336" cy="0"/>
          </a:xfrm>
          <a:prstGeom prst="line">
            <a:avLst/>
          </a:prstGeom>
          <a:ln w="20320">
            <a:solidFill>
              <a:srgbClr val="657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27648" y="1874519"/>
            <a:ext cx="2788920" cy="1481328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1874519"/>
            <a:ext cx="64008" cy="1481328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1"/>
            <a:ext cx="253288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Tool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59152"/>
            <a:ext cx="2514600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同一目标可保留多个 tool route，而不是固定一条历史序列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16567" y="2606040"/>
            <a:ext cx="374905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37192" y="1874519"/>
            <a:ext cx="1874519" cy="1481328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7192" y="1874519"/>
            <a:ext cx="64008" cy="1481328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1784" y="1993391"/>
            <a:ext cx="161848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Target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1784" y="2359152"/>
            <a:ext cx="1600199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new valid layer / count / map / calculation / annotation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114800"/>
            <a:ext cx="10149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1872" y="4343400"/>
            <a:ext cx="96469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769AA"/>
                </a:solidFill>
                <a:latin typeface="Aptos"/>
              </a:rPr>
              <a:t>局部证据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709160"/>
            <a:ext cx="95554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5D6975"/>
                </a:solidFill>
                <a:latin typeface="Aptos"/>
              </a:rPr>
              <a:t>input binding valid  |  output valid  |  target completed  |  downstream consumed  |  attributable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8756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边界：$Q/R$ 是离线平滑的局部经验统计，不是最终任务成功的因果归因或校准概率。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EXPERIENCEEVO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在线机制：状态匹配、当前引用绑定与软验证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73352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74519"/>
            <a:ext cx="365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1769A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892807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32304"/>
            <a:ext cx="155448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从当前 image、data、artifact tracker 推得 live product state。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706624"/>
            <a:ext cx="310896" cy="0"/>
          </a:xfrm>
          <a:prstGeom prst="line">
            <a:avLst/>
          </a:prstGeom>
          <a:ln w="2032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62072" y="1673352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874519"/>
            <a:ext cx="365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1769A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892807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432304"/>
            <a:ext cx="155448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筛选前置状态兼容且工具可用的 transition families。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2706624"/>
            <a:ext cx="310896" cy="0"/>
          </a:xfrm>
          <a:prstGeom prst="line">
            <a:avLst/>
          </a:prstGeom>
          <a:ln w="2032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4" y="1673352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1874519"/>
            <a:ext cx="365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07F73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6" y="1892807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432304"/>
            <a:ext cx="155448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注入短规则：使用当前返回值、检查输出、失败后恢复。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2706624"/>
            <a:ext cx="310896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97496" y="1673352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874519"/>
            <a:ext cx="365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007F73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1892807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432304"/>
            <a:ext cx="155448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base agent 自主选 tool；hard guard 仅处理窄范围 schema/path。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17736" y="2706624"/>
            <a:ext cx="310896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65208" y="1673352"/>
            <a:ext cx="1901952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874519"/>
            <a:ext cx="365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1769AA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892807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212B"/>
                </a:solidFill>
                <a:latin typeface="Aptos"/>
              </a:rPr>
              <a:t>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432304"/>
            <a:ext cx="155448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根据新 observation 更新状态，按需提供下一步 hint。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370832"/>
            <a:ext cx="10561320" cy="1078992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617720"/>
            <a:ext cx="10012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D97706"/>
                </a:solidFill>
                <a:latin typeface="Aptos"/>
              </a:rPr>
              <a:t>必须单独审计 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983480"/>
            <a:ext cx="10012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30" b="0">
                <a:solidFill>
                  <a:srgbClr val="16212B"/>
                </a:solidFill>
                <a:latin typeface="Aptos"/>
              </a:rPr>
              <a:t>当前实现中，nonempty v3 fallback 会先返回，可能遮蔽 ordinary learned-store ranking；其收益不能归给 train-rollout experience。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1769AA"/>
                </a:solidFill>
                <a:latin typeface="Aptos"/>
              </a:rPr>
              <a:t>EXPERIENCEEVO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验证设计：先分解工程保护，再谈经验迁移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81328"/>
            <a:ext cx="1664208" cy="1325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64008" cy="1325880"/>
          </a:xfrm>
          <a:prstGeom prst="rect">
            <a:avLst/>
          </a:prstGeom>
          <a:solidFill>
            <a:srgbClr val="657786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00200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1">
                <a:solidFill>
                  <a:srgbClr val="16212B"/>
                </a:solidFill>
                <a:latin typeface="Aptos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65960"/>
            <a:ext cx="138988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0" b="0">
                <a:solidFill>
                  <a:srgbClr val="5D6975"/>
                </a:solidFill>
                <a:latin typeface="Aptos"/>
              </a:rPr>
              <a:t>无 store
无 fallback
无 guard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93976" y="2139696"/>
            <a:ext cx="2103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40864" y="1481328"/>
            <a:ext cx="1664208" cy="1325880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40864" y="1481328"/>
            <a:ext cx="64008" cy="132588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600200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1">
                <a:solidFill>
                  <a:srgbClr val="16212B"/>
                </a:solidFill>
                <a:latin typeface="Aptos"/>
              </a:rPr>
              <a:t>+ Generic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1965960"/>
            <a:ext cx="138988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0" b="0">
                <a:solidFill>
                  <a:srgbClr val="5D6975"/>
                </a:solidFill>
                <a:latin typeface="Aptos"/>
              </a:rPr>
              <a:t>仅 image binding
+ calculator syntax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139696"/>
            <a:ext cx="2103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0248" y="1481328"/>
            <a:ext cx="1664208" cy="1325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481328"/>
            <a:ext cx="64008" cy="1325880"/>
          </a:xfrm>
          <a:prstGeom prst="rect">
            <a:avLst/>
          </a:prstGeom>
          <a:solidFill>
            <a:srgbClr val="657786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600200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1">
                <a:solidFill>
                  <a:srgbClr val="16212B"/>
                </a:solidFill>
                <a:latin typeface="Aptos"/>
              </a:rPr>
              <a:t>No-store soft-only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65960"/>
            <a:ext cx="138988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0" b="0">
                <a:solidFill>
                  <a:srgbClr val="5D6975"/>
                </a:solidFill>
                <a:latin typeface="Aptos"/>
              </a:rPr>
              <a:t>无经验库
保留软状态/验证语言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2139696"/>
            <a:ext cx="2103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99632" y="1481328"/>
            <a:ext cx="1664208" cy="1325880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481328"/>
            <a:ext cx="64008" cy="132588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600200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1">
                <a:solidFill>
                  <a:srgbClr val="16212B"/>
                </a:solidFill>
                <a:latin typeface="Aptos"/>
              </a:rPr>
              <a:t>Fallback-only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65960"/>
            <a:ext cx="138988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0" b="0">
                <a:solidFill>
                  <a:srgbClr val="5D6975"/>
                </a:solidFill>
                <a:latin typeface="Aptos"/>
              </a:rPr>
              <a:t>无 learned store
仅 deterministic fallback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2128" y="2139696"/>
            <a:ext cx="210312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29015" y="1481328"/>
            <a:ext cx="1664208" cy="132588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9015" y="1481328"/>
            <a:ext cx="64008" cy="1325880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7" y="1600200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1">
                <a:solidFill>
                  <a:srgbClr val="16212B"/>
                </a:solidFill>
                <a:latin typeface="Aptos"/>
              </a:rPr>
              <a:t>Learned-store-only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7" y="1965960"/>
            <a:ext cx="138988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0" b="0">
                <a:solidFill>
                  <a:srgbClr val="5D6975"/>
                </a:solidFill>
                <a:latin typeface="Aptos"/>
              </a:rPr>
              <a:t>read-only store
fallback disabled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1511" y="2139696"/>
            <a:ext cx="210313" cy="0"/>
          </a:xfrm>
          <a:prstGeom prst="line">
            <a:avLst/>
          </a:prstGeom>
          <a:ln w="1270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58399" y="1481328"/>
            <a:ext cx="1664208" cy="1325880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399" y="1481328"/>
            <a:ext cx="64008" cy="1325880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22991" y="1600200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1">
                <a:solidFill>
                  <a:srgbClr val="16212B"/>
                </a:solidFill>
                <a:latin typeface="Aptos"/>
              </a:rPr>
              <a:t>Full v4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1" y="1965960"/>
            <a:ext cx="138988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0" b="0">
                <a:solidFill>
                  <a:srgbClr val="5D6975"/>
                </a:solidFill>
                <a:latin typeface="Aptos"/>
              </a:rPr>
              <a:t>store + fallback
+ guard + verifier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3364992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16212B"/>
                </a:solidFill>
                <a:latin typeface="Aptos"/>
              </a:rPr>
              <a:t>主要指标必须拆开报告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3886200"/>
            <a:ext cx="2395728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114800"/>
            <a:ext cx="21762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769AA"/>
                </a:solidFill>
                <a:latin typeface="Aptos"/>
              </a:rPr>
              <a:t>执行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4434840"/>
            <a:ext cx="21214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5D6975"/>
                </a:solidFill>
                <a:latin typeface="Aptos"/>
              </a:rPr>
              <a:t>Success / tool agreement / invalid &amp; repeated calls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56432" y="3886200"/>
            <a:ext cx="2395728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4114800"/>
            <a:ext cx="21762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07F73"/>
                </a:solidFill>
                <a:latin typeface="Aptos"/>
              </a:rPr>
              <a:t>答案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3592" y="4434840"/>
            <a:ext cx="21214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5D6975"/>
                </a:solidFill>
                <a:latin typeface="Aptos"/>
              </a:rPr>
              <a:t>ordinary answer quality with independent audit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886200"/>
            <a:ext cx="2395728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114800"/>
            <a:ext cx="21762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Aptos"/>
              </a:rPr>
              <a:t>产物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4434840"/>
            <a:ext cx="21214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5D6975"/>
                </a:solidFill>
                <a:latin typeface="Aptos"/>
              </a:rPr>
              <a:t>requested map/file/annotation contract completion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42832" y="3886200"/>
            <a:ext cx="2395728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59" y="4114800"/>
            <a:ext cx="21762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657786"/>
                </a:solidFill>
                <a:latin typeface="Aptos"/>
              </a:rPr>
              <a:t>成本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9992" y="4434840"/>
            <a:ext cx="212140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9" b="0">
                <a:solidFill>
                  <a:srgbClr val="5D6975"/>
                </a:solidFill>
                <a:latin typeface="Aptos"/>
              </a:rPr>
              <a:t>tools, LLM calls, tokens, latency, failures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687568"/>
            <a:ext cx="1060704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5D6975"/>
                </a:solidFill>
                <a:latin typeface="Aptos"/>
              </a:rPr>
              <a:t>正式 mechanism log：family ID、provenance、fallback suppression、recommended/selected tool、binding/product checks。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9144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241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PromptEvo：静态行为协议的对比式自进化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9601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F2F7FA"/>
                </a:solidFill>
                <a:latin typeface="Aptos"/>
              </a:rPr>
              <a:t>Contrastive self-evolution of static behavior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10607040" cy="18288"/>
          </a:xfrm>
          <a:prstGeom prst="rect">
            <a:avLst/>
          </a:prstGeom>
          <a:solidFill>
            <a:srgbClr val="BDEBE5"/>
          </a:solidFill>
          <a:ln w="10160">
            <a:solidFill>
              <a:srgbClr val="BD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81381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目标：把 prompt 更新限制为可审计的小型行为规则，并把“候选生成”与“真实 rollout 接受”明确分开。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7F73"/>
                </a:solidFill>
                <a:latin typeface="Aptos"/>
              </a:rPr>
              <a:t>PROMPTEVO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PromptEvo：从 paired traces 到经接受的静态协议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1847088" cy="1408176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64008" cy="1408176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5910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A / B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572768" cy="8321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5D6975"/>
                </a:solidFill>
                <a:latin typeface="Aptos"/>
              </a:rPr>
              <a:t>same-task rollout traces
+ literal prompt diff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14016" y="2551176"/>
            <a:ext cx="393192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52928" y="1847088"/>
            <a:ext cx="1847088" cy="1408176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1847088"/>
            <a:ext cx="64008" cy="1408176"/>
          </a:xfrm>
          <a:prstGeom prst="rect">
            <a:avLst/>
          </a:prstGeom>
          <a:solidFill>
            <a:srgbClr val="657786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65960"/>
            <a:ext cx="15910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Attribution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31720"/>
            <a:ext cx="1572768" cy="8321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5D6975"/>
                </a:solidFill>
                <a:latin typeface="Aptos"/>
              </a:rPr>
              <a:t>separate prompt-fixable cases
from tool/service noise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0016" y="2551176"/>
            <a:ext cx="393192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8928" y="1847088"/>
            <a:ext cx="1847088" cy="1408176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8928" y="1847088"/>
            <a:ext cx="64008" cy="1408176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65960"/>
            <a:ext cx="15910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Typed patches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31720"/>
            <a:ext cx="1572768" cy="8321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5D6975"/>
                </a:solidFill>
                <a:latin typeface="Aptos"/>
              </a:rPr>
              <a:t>trigger + rule + kind
+ priority + risk + 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86016" y="2551176"/>
            <a:ext cx="393191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24927" y="1847088"/>
            <a:ext cx="1847088" cy="1408176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24927" y="1847088"/>
            <a:ext cx="64008" cy="1408176"/>
          </a:xfrm>
          <a:prstGeom prst="rect">
            <a:avLst/>
          </a:prstGeom>
          <a:solidFill>
            <a:srgbClr val="657786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965960"/>
            <a:ext cx="15910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Compiler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331720"/>
            <a:ext cx="1572768" cy="8321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5D6975"/>
                </a:solidFill>
                <a:latin typeface="Aptos"/>
              </a:rPr>
              <a:t>reject task-specific text, conflicts; preserve anchors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72015" y="2551176"/>
            <a:ext cx="393192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10928" y="1847088"/>
            <a:ext cx="1847088" cy="1408176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10928" y="1847088"/>
            <a:ext cx="64008" cy="1408176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1965960"/>
            <a:ext cx="15910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212B"/>
                </a:solidFill>
                <a:latin typeface="Aptos"/>
              </a:rPr>
              <a:t>Frozen dev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331720"/>
            <a:ext cx="1572768" cy="8321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5D6975"/>
                </a:solidFill>
                <a:latin typeface="Aptos"/>
              </a:rPr>
              <a:t>primary + protected metrics
accept or reject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4261104"/>
            <a:ext cx="449884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4498848"/>
            <a:ext cx="404164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6212B"/>
                </a:solidFill>
                <a:latin typeface="Aptos"/>
              </a:rPr>
              <a:t>Locked test: one frozen fingerprint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846320"/>
            <a:ext cx="40416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80" b="0">
                <a:solidFill>
                  <a:srgbClr val="5D6975"/>
                </a:solidFill>
                <a:latin typeface="Aptos"/>
              </a:rPr>
              <a:t>never used to revise thresholds or patches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183879" y="3310128"/>
            <a:ext cx="2441449" cy="932688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8096" y="5751576"/>
            <a:ext cx="1060704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关键区分：静态 analysis 可排序候选；只有在冻结 dev 上通过预声明指标的 rollout，才可称为 accepted。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7F73"/>
                </a:solidFill>
                <a:latin typeface="Aptos"/>
              </a:rPr>
              <a:t>PROMPTEVO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更新对象：typed behavior protocol patches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89888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91056"/>
            <a:ext cx="2103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Tool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5264" y="1563624"/>
            <a:ext cx="7818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在工具有歧义时先核对当前目标和可用输入。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7744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2103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F73"/>
                </a:solidFill>
                <a:latin typeface="Aptos"/>
              </a:rPr>
              <a:t>Argument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2551176"/>
            <a:ext cx="7818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使用 artifact-like 参数前，确认其来自当前运行且满足 schema。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64992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2103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Error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3538728"/>
            <a:ext cx="7818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遇到可归因的参数/输出错误时，先恢复缺失产品再重试。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352544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53712"/>
            <a:ext cx="2103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657786"/>
                </a:solidFill>
                <a:latin typeface="Aptos"/>
              </a:rPr>
              <a:t>Termination &amp; repetition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4" y="4526280"/>
            <a:ext cx="7818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5D6975"/>
                </a:solidFill>
                <a:latin typeface="Aptos"/>
              </a:rPr>
              <a:t>仅在请求证据完整时结束；避免重复同一失败绑定。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532120"/>
            <a:ext cx="10332720" cy="512064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687568"/>
            <a:ext cx="9921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50" b="0">
                <a:solidFill>
                  <a:srgbClr val="16212B"/>
                </a:solidFill>
                <a:latin typeface="Aptos"/>
              </a:rPr>
              <a:t>Compiler guarantees syntactic/policy-surface constraints, not semantic safety, causal utility, or cross-environment generalization。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7F73"/>
                </a:solidFill>
                <a:latin typeface="Aptos"/>
              </a:rPr>
              <a:t>PROMPTEVO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实现边界：当前代码与论文协议必须严格区分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2944368" cy="502920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99616"/>
            <a:ext cx="2670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007F73"/>
                </a:solidFill>
                <a:latin typeface="Aptos"/>
              </a:rPr>
              <a:t>当前已实现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353312"/>
            <a:ext cx="2944368" cy="502920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499616"/>
            <a:ext cx="2670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D97706"/>
                </a:solidFill>
                <a:latin typeface="Aptos"/>
              </a:rPr>
              <a:t>当前尚未自动保证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2944" y="1353312"/>
            <a:ext cx="2944368" cy="50292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0104" y="1499616"/>
            <a:ext cx="2670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1769AA"/>
                </a:solidFill>
                <a:latin typeface="Aptos"/>
              </a:rPr>
              <a:t>正式提交前的证据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12264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F73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2112264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typed patch kinds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651760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F73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2651760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task/path pattern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191256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F73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3191256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conflict / duplicate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730752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F73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3730752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high-risk withholding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70248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F73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4270248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current success-drop acceptance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2112264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2112264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evidence nonempty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2651760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2651760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evidence resolves to trace/attribution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3191256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3191256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all protected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3730752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3" y="3730752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candidate ledger linkage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270248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3983" y="4270248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CLI persistence equals acceptance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2112264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112264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all candidates + rejections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2651760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651760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frozen dev split hash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3191256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191256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thresholds and paired deltas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3730752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730752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selected prompt fingerprint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4270248"/>
            <a:ext cx="1645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270248"/>
            <a:ext cx="25328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20" b="0">
                <a:solidFill>
                  <a:srgbClr val="16212B"/>
                </a:solidFill>
                <a:latin typeface="Aptos"/>
              </a:rPr>
              <a:t>one locked-test result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650992"/>
            <a:ext cx="10424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因此：被写入文件的 prompt 只能叫 persisted candidate；没有真实 dev 决策与证据链，不能叫 accepted prompt。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007F73"/>
                </a:solidFill>
                <a:latin typeface="Aptos"/>
              </a:rPr>
              <a:t>PROMPTEVO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实验设计：把搜索过程本身变成可复核对象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72768"/>
            <a:ext cx="2468880" cy="1874519"/>
          </a:xfrm>
          <a:prstGeom prst="roundRect">
            <a:avLst>
              <a:gd name="adj" fmla="val 8000"/>
            </a:avLst>
          </a:prstGeom>
          <a:solidFill>
            <a:srgbClr val="F5F7F9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64008" cy="1874519"/>
          </a:xfrm>
          <a:prstGeom prst="rect">
            <a:avLst/>
          </a:prstGeom>
          <a:solidFill>
            <a:srgbClr val="657786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9164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057400"/>
            <a:ext cx="219456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freeze paired tasks, base/current fingerprints, literal diff, trace batches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514600"/>
            <a:ext cx="301752" cy="0"/>
          </a:xfrm>
          <a:prstGeom prst="line">
            <a:avLst/>
          </a:prstGeom>
          <a:ln w="20320">
            <a:solidFill>
              <a:srgbClr val="6577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572768"/>
            <a:ext cx="2468880" cy="1874519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572768"/>
            <a:ext cx="64008" cy="1874519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69164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Candidate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057400"/>
            <a:ext cx="219456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compiler report + patch-level declared evidence + resolution status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3328" y="2514600"/>
            <a:ext cx="301752" cy="0"/>
          </a:xfrm>
          <a:prstGeom prst="line">
            <a:avLst/>
          </a:prstGeom>
          <a:ln w="20320">
            <a:solidFill>
              <a:srgbClr val="00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19088" y="1572768"/>
            <a:ext cx="2468880" cy="1874519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1572768"/>
            <a:ext cx="64008" cy="1874519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9164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Dev acceptance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219456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predeclare primary/protected metrics, thresholds, failure policy, ledger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06256" y="2514600"/>
            <a:ext cx="301752" cy="0"/>
          </a:xfrm>
          <a:prstGeom prst="line">
            <a:avLst/>
          </a:prstGeom>
          <a:ln w="20320">
            <a:solidFill>
              <a:srgbClr val="17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72015" y="1572768"/>
            <a:ext cx="2468880" cy="1874519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72015" y="1572768"/>
            <a:ext cx="64008" cy="1874519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7" y="1691640"/>
            <a:ext cx="22128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212B"/>
                </a:solidFill>
                <a:latin typeface="Aptos"/>
              </a:rPr>
              <a:t>Locked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7" y="2057400"/>
            <a:ext cx="219456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Aptos"/>
              </a:rPr>
              <a:t>run exactly one frozen accepted fingerprint; preserve negative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187952"/>
            <a:ext cx="101955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443984"/>
            <a:ext cx="96926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16212B"/>
                </a:solidFill>
                <a:latin typeface="Aptos"/>
              </a:rPr>
              <a:t>no-update control 必须与每一个 prompt 条件共享 actor、tool/evaluator manifest、retry/timeout/cache 和 worker policy。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846320"/>
            <a:ext cx="96926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20" b="0">
                <a:solidFill>
                  <a:srgbClr val="5D6975"/>
                </a:solidFill>
                <a:latin typeface="Aptos"/>
              </a:rPr>
              <a:t>报告 utility、安全/contract、成本、基础设施失败和候选数；不以加权总分掩盖显著回归。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D97706"/>
                </a:solidFill>
                <a:latin typeface="Aptos"/>
              </a:rPr>
              <a:t>EVIDENCE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统一证据链：主张必须能回到任务级记录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261872"/>
            <a:ext cx="9528048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1417319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40" b="1">
                <a:solidFill>
                  <a:srgbClr val="657786"/>
                </a:solidFill>
                <a:latin typeface="Aptos"/>
              </a:rPr>
              <a:t>Raw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9312" y="1408175"/>
            <a:ext cx="6812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每个计划 task 均保留：completed / failed / empty final / evaluator error。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4" y="1874519"/>
            <a:ext cx="0" cy="201169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25880" y="2112264"/>
            <a:ext cx="9528048" cy="59436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2267712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40" b="1">
                <a:solidFill>
                  <a:srgbClr val="1769AA"/>
                </a:solidFill>
                <a:latin typeface="Aptos"/>
              </a:rPr>
              <a:t>Immutable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258568"/>
            <a:ext cx="6812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split、模型、prompt、工具 schema、cache/retry、service/resource policy。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9904" y="2724912"/>
            <a:ext cx="0" cy="201168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25880" y="2962656"/>
            <a:ext cx="9528048" cy="594360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3118104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40" b="1">
                <a:solidFill>
                  <a:srgbClr val="007F73"/>
                </a:solidFill>
                <a:latin typeface="Aptos"/>
              </a:rPr>
              <a:t>Mechanism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108960"/>
            <a:ext cx="6812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ExperienceEvo provenance trace；PromptEvo candidate ledger / compiler report。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9904" y="3575304"/>
            <a:ext cx="0" cy="201168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25880" y="3813048"/>
            <a:ext cx="9528048" cy="594360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3968496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40" b="1">
                <a:solidFill>
                  <a:srgbClr val="D97706"/>
                </a:solidFill>
                <a:latin typeface="Aptos"/>
              </a:rPr>
              <a:t>Paired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959352"/>
            <a:ext cx="6812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共同 task IDs、分母、bootstrap CI、失败核算、分层分析。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4425696"/>
            <a:ext cx="0" cy="201168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25880" y="4663440"/>
            <a:ext cx="9528048" cy="594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6577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72768" y="4818888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40" b="1">
                <a:solidFill>
                  <a:srgbClr val="657786"/>
                </a:solidFill>
                <a:latin typeface="Aptos"/>
              </a:rPr>
              <a:t>Paper 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809744"/>
            <a:ext cx="6812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D6975"/>
                </a:solidFill>
                <a:latin typeface="Aptos"/>
              </a:rPr>
              <a:t>主表、图、摘要与结论只使用已冻结证据支持的范围。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24728"/>
            <a:ext cx="10058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Aptos"/>
              </a:rPr>
              <a:t>历史诊断用于设计与风险识别，不替代 final evidence；任何主表数字必须可追溯。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D97706"/>
                </a:solidFill>
                <a:latin typeface="Aptos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当前进度：方法稿完成，正式论文证据尚未完成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3246120" cy="2176272"/>
          </a:xfrm>
          <a:prstGeom prst="roundRect">
            <a:avLst>
              <a:gd name="adj" fmla="val 8000"/>
            </a:avLst>
          </a:prstGeom>
          <a:solidFill>
            <a:srgbClr val="E7F5F1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417320"/>
            <a:ext cx="64008" cy="2176272"/>
          </a:xfrm>
          <a:prstGeom prst="rect">
            <a:avLst/>
          </a:prstGeom>
          <a:solidFill>
            <a:srgbClr val="007F73"/>
          </a:solidFill>
          <a:ln w="10160">
            <a:solidFill>
              <a:srgbClr val="00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36192"/>
            <a:ext cx="299008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212B"/>
                </a:solidFill>
                <a:latin typeface="Aptos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297180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两篇独立主稿与补充材料
方法图、相关工作、实现审计
实验矩阵、证据包模板、投稿检查单
历史诊断与负结果保留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246120" cy="2176272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64008" cy="2176272"/>
          </a:xfrm>
          <a:prstGeom prst="rect">
            <a:avLst/>
          </a:prstGeom>
          <a:solidFill>
            <a:srgbClr val="1769AA"/>
          </a:solidFill>
          <a:ln w="1016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36192"/>
            <a:ext cx="299008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212B"/>
                </a:solidFill>
                <a:latin typeface="Aptos"/>
              </a:rPr>
              <a:t>进行中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01952"/>
            <a:ext cx="297180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冻结 train/dev/test 与 manifests
补齐 ExperienceEvo provenance trace
闭合 PromptEvo evidence/acceptance ledger
完成主比较和必要消融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417320"/>
            <a:ext cx="3246120" cy="2176272"/>
          </a:xfrm>
          <a:prstGeom prst="roundRect">
            <a:avLst>
              <a:gd name="adj" fmla="val 8000"/>
            </a:avLst>
          </a:prstGeom>
          <a:solidFill>
            <a:srgbClr val="FFF3DE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417320"/>
            <a:ext cx="64008" cy="2176272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36192"/>
            <a:ext cx="299008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212B"/>
                </a:solidFill>
                <a:latin typeface="Aptos"/>
              </a:rPr>
              <a:t>提交前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01952"/>
            <a:ext cx="297180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Aptos"/>
              </a:rPr>
              <a:t>official/adapted baseline fidelity
paired uncertainty + independent audit
填主表并复核所有 claim
Overleaf PDF、作者、引用、许可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361688"/>
            <a:ext cx="10222992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590288"/>
            <a:ext cx="96743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B42318"/>
                </a:solidFill>
                <a:latin typeface="Aptos"/>
              </a:rPr>
              <a:t>当前不应宣称：最终性能提升、SOTA、经验迁移的因果收益、prompt 的安全非退化或跨环境泛化。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56048"/>
            <a:ext cx="9674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5D6975"/>
                </a:solidFill>
                <a:latin typeface="Aptos"/>
              </a:rPr>
              <a:t>当前可陈述：两套可审计方法对象、明确实现边界，以及可证伪的实验协议。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1">
                <a:solidFill>
                  <a:srgbClr val="D97706"/>
                </a:solidFill>
                <a:latin typeface="Aptos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212B"/>
                </a:solidFill>
                <a:latin typeface="Aptos"/>
              </a:rPr>
              <a:t>下一阶段：从方法稿走向可提交的证据包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16459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D6975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444752"/>
            <a:ext cx="502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1769AA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965960"/>
            <a:ext cx="1947672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267712"/>
            <a:ext cx="1728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1769AA"/>
                </a:solidFill>
                <a:latin typeface="Aptos"/>
              </a:rPr>
              <a:t>冻结研究对象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816352"/>
            <a:ext cx="1682496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0">
                <a:solidFill>
                  <a:srgbClr val="5D6975"/>
                </a:solidFill>
                <a:latin typeface="Aptos"/>
              </a:rPr>
              <a:t>split、模型、工具、prompt 与运行策略。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0592" y="2971800"/>
            <a:ext cx="301752" cy="0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20440" y="1444752"/>
            <a:ext cx="502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007F73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1965960"/>
            <a:ext cx="1947672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2267712"/>
            <a:ext cx="1728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007F73"/>
                </a:solidFill>
                <a:latin typeface="Aptos"/>
              </a:rPr>
              <a:t>补齐可审计日志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16352"/>
            <a:ext cx="1682496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0">
                <a:solidFill>
                  <a:srgbClr val="5D6975"/>
                </a:solidFill>
                <a:latin typeface="Aptos"/>
              </a:rPr>
              <a:t>ExperienceEvo provenance；PromptEvo resolution 与 ledger。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2971800"/>
            <a:ext cx="301752" cy="0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43016" y="1444752"/>
            <a:ext cx="502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965960"/>
            <a:ext cx="1947672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267712"/>
            <a:ext cx="1728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D97706"/>
                </a:solidFill>
                <a:latin typeface="Aptos"/>
              </a:rPr>
              <a:t>运行关键对照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5" y="2816352"/>
            <a:ext cx="1682496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0">
                <a:solidFill>
                  <a:srgbClr val="5D6975"/>
                </a:solidFill>
                <a:latin typeface="Aptos"/>
              </a:rPr>
              <a:t>causal matrix；no-update；frozen dev / locked test。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95744" y="2971800"/>
            <a:ext cx="301752" cy="0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65592" y="1444752"/>
            <a:ext cx="502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1769A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1965960"/>
            <a:ext cx="1947672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4" y="2267712"/>
            <a:ext cx="1728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1769AA"/>
                </a:solidFill>
                <a:latin typeface="Aptos"/>
              </a:rPr>
              <a:t>统计与审计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2816352"/>
            <a:ext cx="1682496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0">
                <a:solidFill>
                  <a:srgbClr val="5D6975"/>
                </a:solidFill>
                <a:latin typeface="Aptos"/>
              </a:rPr>
              <a:t>paired CI、failure accounting、answer/artifact audit。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18320" y="2971800"/>
            <a:ext cx="301752" cy="0"/>
          </a:xfrm>
          <a:prstGeom prst="line">
            <a:avLst/>
          </a:prstGeom>
          <a:ln w="1397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88167" y="1444752"/>
            <a:ext cx="50292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007F73"/>
                </a:solidFill>
                <a:latin typeface="Aptos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5792" y="1965960"/>
            <a:ext cx="1947672" cy="2029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2267712"/>
            <a:ext cx="17282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50" b="1">
                <a:solidFill>
                  <a:srgbClr val="007F73"/>
                </a:solidFill>
                <a:latin typeface="Aptos"/>
              </a:rPr>
              <a:t>论文冻结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816352"/>
            <a:ext cx="1682496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40" b="0">
                <a:solidFill>
                  <a:srgbClr val="5D6975"/>
                </a:solidFill>
                <a:latin typeface="Aptos"/>
              </a:rPr>
              <a:t>填表、claim audit、PDF、许可与 arXiv。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148072"/>
            <a:ext cx="100584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6212B"/>
                </a:solidFill>
                <a:latin typeface="Aptos"/>
              </a:rPr>
              <a:t>成功标准不是“跑出更高数字”，而是让任何核心结论都能回溯到同一冻结配置下的原始任务级证据。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5D6975"/>
                </a:solidFill>
                <a:latin typeface="Aptos"/>
              </a:rPr>
              <a:t>Terrabox | Self-Evolving Tool Agents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B"/>
          </a:solidFill>
          <a:ln w="10160">
            <a:solidFill>
              <a:srgbClr val="16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8AC5D1"/>
                </a:solidFill>
                <a:latin typeface="Apto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100584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将 Agent 自进化从“经验堆积”
转化为可审计的更新闭环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657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769AA"/>
                </a:solidFill>
                <a:latin typeface="Aptos"/>
              </a:rPr>
              <a:t>ExperienceEvo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3657600"/>
            <a:ext cx="8046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E5EDF1"/>
                </a:solidFill>
                <a:latin typeface="Aptos"/>
              </a:rPr>
              <a:t>用产品状态转移表达 runtime experience reuse，并把 fallback 与 learned store 严格分开。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4224528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F73"/>
                </a:solidFill>
                <a:latin typeface="Aptos"/>
              </a:rPr>
              <a:t>PromptEvo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224528"/>
            <a:ext cx="8046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E5EDF1"/>
                </a:solidFill>
                <a:latin typeface="Aptos"/>
              </a:rPr>
              <a:t>用 typed protocol patches 约束静态行为更新，并把生成、编译、接受和测试分开。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791456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Aptos"/>
              </a:rPr>
              <a:t>Evidence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791456"/>
            <a:ext cx="8046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E5EDF1"/>
                </a:solidFill>
                <a:latin typeface="Aptos"/>
              </a:rPr>
              <a:t>冻结配置、反事实控制和任务级 provenance 决定论文能否成立。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199632"/>
            <a:ext cx="10058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8AC5D1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面向工具增强 Agent 的可审计自进化</dc:title>
  <dc:subject>ExperienceEvo 与 PromptEvo 中期答辩</dc:subject>
  <dc:creator>Terrabox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