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3" r:id="rId2"/>
  </p:sldMasterIdLst>
  <p:notesMasterIdLst>
    <p:notesMasterId r:id="rId36"/>
  </p:notesMasterIdLst>
  <p:handoutMasterIdLst>
    <p:handoutMasterId r:id="rId37"/>
  </p:handout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</p:sldIdLst>
  <p:sldSz cx="12192000" cy="6858000"/>
  <p:notesSz cx="6858000" cy="9144000"/>
  <p:embeddedFontLst>
    <p:embeddedFont>
      <p:font typeface="等线" panose="02010600030101010101" pitchFamily="2" charset="-122"/>
      <p:regular r:id="rId38"/>
      <p:bold r:id="rId39"/>
    </p:embeddedFont>
    <p:embeddedFont>
      <p:font typeface="黑体" panose="02010609060101010101" pitchFamily="49" charset="-122"/>
      <p:regular r:id="rId40"/>
    </p:embeddedFont>
    <p:embeddedFont>
      <p:font typeface="微软雅黑" panose="020B0503020204020204" pitchFamily="34" charset="-122"/>
      <p:regular r:id="rId41"/>
      <p:bold r:id="rId42"/>
    </p:embeddedFont>
  </p:embeddedFontLst>
  <p:custDataLst>
    <p:tags r:id="rId4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汉仪旗黑-55简"/>
        <a:ea typeface="汉仪旗黑-55简"/>
        <a:cs typeface="汉仪旗黑-55简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汉仪旗黑-55简"/>
        <a:ea typeface="汉仪旗黑-55简"/>
        <a:cs typeface="汉仪旗黑-55简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汉仪旗黑-55简"/>
        <a:ea typeface="汉仪旗黑-55简"/>
        <a:cs typeface="汉仪旗黑-55简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汉仪旗黑-55简"/>
        <a:ea typeface="汉仪旗黑-55简"/>
        <a:cs typeface="汉仪旗黑-55简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汉仪旗黑-55简"/>
        <a:ea typeface="汉仪旗黑-55简"/>
        <a:cs typeface="汉仪旗黑-55简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汉仪旗黑-55简"/>
        <a:ea typeface="汉仪旗黑-55简"/>
        <a:cs typeface="汉仪旗黑-55简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汉仪旗黑-55简"/>
        <a:ea typeface="汉仪旗黑-55简"/>
        <a:cs typeface="汉仪旗黑-55简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汉仪旗黑-55简"/>
        <a:ea typeface="汉仪旗黑-55简"/>
        <a:cs typeface="汉仪旗黑-55简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汉仪旗黑-55简"/>
        <a:ea typeface="汉仪旗黑-55简"/>
        <a:cs typeface="汉仪旗黑-55简"/>
      </a:defRPr>
    </a:lvl9pPr>
  </p:defaultTextStyle>
  <p:extLst>
    <p:ext uri="{EFAFB233-063F-42B5-8137-9DF3F51BA10A}">
      <p15:sldGuideLst xmlns:p15="http://schemas.microsoft.com/office/powerpoint/2012/main">
        <p15:guide id="1" orient="horz" pos="1885">
          <p15:clr>
            <a:srgbClr val="A4A3A4"/>
          </p15:clr>
        </p15:guide>
        <p15:guide id="2" pos="3840">
          <p15:clr>
            <a:srgbClr val="A4A3A4"/>
          </p15:clr>
        </p15:guide>
        <p15:guide id="3" pos="722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" lastIdx="3" clrIdx="0"/>
  <p:cmAuthor id="2" name="王晨" initials="" lastIdx="13" clrIdx="1"/>
  <p:cmAuthor id="3" name="ustc-lding" initials="" lastIdx="1" clrIdx="2"/>
  <p:cmAuthor id="4" name="jin bobo" initials="" lastIdx="1" clrIdx="3"/>
  <p:cmAuthor id="5" name="李淑鹏" initials="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06257E"/>
    <a:srgbClr val="EEF2F9"/>
    <a:srgbClr val="C00000"/>
    <a:srgbClr val="193583"/>
    <a:srgbClr val="98A8CF"/>
    <a:srgbClr val="1B1E27"/>
    <a:srgbClr val="5A82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4223" autoAdjust="0"/>
  </p:normalViewPr>
  <p:slideViewPr>
    <p:cSldViewPr snapToGrid="0">
      <p:cViewPr varScale="1">
        <p:scale>
          <a:sx n="93" d="100"/>
          <a:sy n="93" d="100"/>
        </p:scale>
        <p:origin x="1212" y="78"/>
      </p:cViewPr>
      <p:guideLst>
        <p:guide orient="horz" pos="1885"/>
        <p:guide pos="3840"/>
        <p:guide pos="722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font" Target="fonts/font1.fntdata"/><Relationship Id="rId39" Type="http://schemas.openxmlformats.org/officeDocument/2006/relationships/font" Target="fonts/font2.fntdata"/><Relationship Id="rId40" Type="http://schemas.openxmlformats.org/officeDocument/2006/relationships/font" Target="fonts/font3.fntdata"/><Relationship Id="rId41" Type="http://schemas.openxmlformats.org/officeDocument/2006/relationships/font" Target="fonts/font4.fntdata"/><Relationship Id="rId42" Type="http://schemas.openxmlformats.org/officeDocument/2006/relationships/font" Target="fonts/font5.fntdata"/><Relationship Id="rId43" Type="http://schemas.openxmlformats.org/officeDocument/2006/relationships/tags" Target="tags/tag1.xml"/><Relationship Id="rId44" Type="http://schemas.openxmlformats.org/officeDocument/2006/relationships/commentAuthors" Target="commentAuthors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33A16D4-950E-4F3A-7345-D48F5B6028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CA477A-AFB8-0108-F734-EA7AD973C9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8530DBE-5591-4085-AC58-F778A32083F1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79F957-9B7D-6CEC-8C86-69371525B0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B81750-9AA2-62E4-620B-EF1441A291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79BA7756-114C-4377-863B-EEB0C47C53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EBF8C15-A97D-8A56-B118-0726E50B2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20BD93-83EC-62CA-BD7E-54A5D533767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9652A5A-E612-4CE9-85DF-FBBE1EDCF28B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38A5989-799E-BFFB-DB58-CB33DCF272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F9F52AF-4111-1F9D-8777-DF5A378AC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D157FC-1009-CDE9-6E8B-175605E227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52F602-6478-4829-AD99-61DB83844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7F91F58E-D9C2-409E-96E2-45C7AAB3B0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>
            <a:extLst>
              <a:ext uri="{FF2B5EF4-FFF2-40B4-BE49-F238E27FC236}">
                <a16:creationId xmlns:a16="http://schemas.microsoft.com/office/drawing/2014/main" id="{2C328E1D-0E22-90A7-6A71-6EEBCD94DA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31813" y="649288"/>
            <a:ext cx="11128375" cy="5559425"/>
            <a:chOff x="529582" y="1276705"/>
            <a:chExt cx="10569600" cy="440320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4D106C8-CF6B-A522-2A3A-BEC63F6115EE}"/>
                </a:ext>
              </a:extLst>
            </p:cNvPr>
            <p:cNvSpPr/>
            <p:nvPr/>
          </p:nvSpPr>
          <p:spPr>
            <a:xfrm>
              <a:off x="529582" y="1276705"/>
              <a:ext cx="10569600" cy="4403205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0" dist="190500" dir="13500000" algn="br" rotWithShape="0">
                <a:srgbClr val="FFFFFF"/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FF0000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C087E55-6558-C371-614A-AD54B2FD35DE}"/>
                </a:ext>
              </a:extLst>
            </p:cNvPr>
            <p:cNvSpPr/>
            <p:nvPr/>
          </p:nvSpPr>
          <p:spPr>
            <a:xfrm>
              <a:off x="529582" y="1276705"/>
              <a:ext cx="10569600" cy="4402800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gradFill flip="none" rotWithShape="1">
                <a:gsLst>
                  <a:gs pos="0">
                    <a:schemeClr val="bg1"/>
                  </a:gs>
                  <a:gs pos="100000">
                    <a:srgbClr val="EEF2F9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381000" dist="127000" dir="2700000" algn="tl" rotWithShape="0">
                <a:srgbClr val="4472C4">
                  <a:lumMod val="40000"/>
                  <a:lumOff val="60000"/>
                  <a:alpha val="80000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EEF2F9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E0C14EB7-7E6E-FBDB-E2BF-098D0C6AA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210A3-8BAC-4C57-997C-F41BC1923A13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08C179A-7CC0-4F0A-66CE-4204F4706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CAC4083C-889D-50CD-391F-CD975990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E7728-9A37-4248-AEFF-70689030AE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327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>
            <a:extLst>
              <a:ext uri="{FF2B5EF4-FFF2-40B4-BE49-F238E27FC236}">
                <a16:creationId xmlns:a16="http://schemas.microsoft.com/office/drawing/2014/main" id="{F94C1242-EB5C-D511-21F0-6585829BAA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31813" y="649288"/>
            <a:ext cx="11128375" cy="5559425"/>
            <a:chOff x="529582" y="1276705"/>
            <a:chExt cx="10569600" cy="440320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41364A4-9D63-8CCF-41F3-71664D716623}"/>
                </a:ext>
              </a:extLst>
            </p:cNvPr>
            <p:cNvSpPr/>
            <p:nvPr/>
          </p:nvSpPr>
          <p:spPr>
            <a:xfrm>
              <a:off x="529582" y="1276705"/>
              <a:ext cx="10569600" cy="4403205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0" dist="190500" dir="13500000" algn="br" rotWithShape="0">
                <a:srgbClr val="FFFFFF"/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FF0000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3793C88-5CAB-1652-8B52-264205291A25}"/>
                </a:ext>
              </a:extLst>
            </p:cNvPr>
            <p:cNvSpPr/>
            <p:nvPr/>
          </p:nvSpPr>
          <p:spPr>
            <a:xfrm>
              <a:off x="529582" y="1276705"/>
              <a:ext cx="10569600" cy="4402800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gradFill flip="none" rotWithShape="1">
                <a:gsLst>
                  <a:gs pos="0">
                    <a:schemeClr val="bg1"/>
                  </a:gs>
                  <a:gs pos="100000">
                    <a:srgbClr val="EEF2F9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381000" dist="127000" dir="2700000" algn="tl" rotWithShape="0">
                <a:srgbClr val="4472C4">
                  <a:lumMod val="40000"/>
                  <a:lumOff val="60000"/>
                  <a:alpha val="80000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EEF2F9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</p:grpSp>
      <p:grpSp>
        <p:nvGrpSpPr>
          <p:cNvPr id="7" name="组合 9">
            <a:extLst>
              <a:ext uri="{FF2B5EF4-FFF2-40B4-BE49-F238E27FC236}">
                <a16:creationId xmlns:a16="http://schemas.microsoft.com/office/drawing/2014/main" id="{B917D313-27CA-332D-F942-5A66F8C292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1563" y="6477000"/>
            <a:ext cx="422275" cy="163513"/>
            <a:chOff x="592525" y="1311104"/>
            <a:chExt cx="967102" cy="375455"/>
          </a:xfrm>
        </p:grpSpPr>
        <p:sp>
          <p:nvSpPr>
            <p:cNvPr id="8" name="任意多边形: 形状 10">
              <a:extLst>
                <a:ext uri="{FF2B5EF4-FFF2-40B4-BE49-F238E27FC236}">
                  <a16:creationId xmlns:a16="http://schemas.microsoft.com/office/drawing/2014/main" id="{3479F689-79B4-AD91-3A5C-E023E14C1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103" y="1311104"/>
              <a:ext cx="326524" cy="375455"/>
            </a:xfrm>
            <a:custGeom>
              <a:avLst/>
              <a:gdLst>
                <a:gd name="T0" fmla="*/ 0 w 1188115"/>
                <a:gd name="T1" fmla="*/ 0 h 1366161"/>
                <a:gd name="T2" fmla="*/ 0 w 1188115"/>
                <a:gd name="T3" fmla="*/ 0 h 1366161"/>
                <a:gd name="T4" fmla="*/ 0 w 1188115"/>
                <a:gd name="T5" fmla="*/ 0 h 1366161"/>
                <a:gd name="T6" fmla="*/ 0 w 1188115"/>
                <a:gd name="T7" fmla="*/ 0 h 1366161"/>
                <a:gd name="T8" fmla="*/ 0 w 1188115"/>
                <a:gd name="T9" fmla="*/ 0 h 1366161"/>
                <a:gd name="T10" fmla="*/ 0 w 1188115"/>
                <a:gd name="T11" fmla="*/ 0 h 1366161"/>
                <a:gd name="T12" fmla="*/ 0 w 1188115"/>
                <a:gd name="T13" fmla="*/ 0 h 1366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88115" h="1366161">
                  <a:moveTo>
                    <a:pt x="57216" y="5201"/>
                  </a:moveTo>
                  <a:lnTo>
                    <a:pt x="1169150" y="650123"/>
                  </a:lnTo>
                  <a:cubicBezTo>
                    <a:pt x="1194437" y="664789"/>
                    <a:pt x="1194437" y="701372"/>
                    <a:pt x="1169150" y="716039"/>
                  </a:cubicBezTo>
                  <a:lnTo>
                    <a:pt x="57216" y="1360961"/>
                  </a:lnTo>
                  <a:cubicBezTo>
                    <a:pt x="31812" y="1375695"/>
                    <a:pt x="0" y="1357371"/>
                    <a:pt x="0" y="1328003"/>
                  </a:cubicBezTo>
                  <a:lnTo>
                    <a:pt x="0" y="38159"/>
                  </a:lnTo>
                  <a:cubicBezTo>
                    <a:pt x="0" y="8791"/>
                    <a:pt x="31812" y="-9533"/>
                    <a:pt x="57216" y="5201"/>
                  </a:cubicBezTo>
                </a:path>
              </a:pathLst>
            </a:custGeom>
            <a:gradFill rotWithShape="1">
              <a:gsLst>
                <a:gs pos="0">
                  <a:srgbClr val="2E75B6"/>
                </a:gs>
                <a:gs pos="52200">
                  <a:srgbClr val="27558B"/>
                </a:gs>
                <a:gs pos="100000">
                  <a:srgbClr val="203864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" name="任意多边形: 形状 11">
              <a:extLst>
                <a:ext uri="{FF2B5EF4-FFF2-40B4-BE49-F238E27FC236}">
                  <a16:creationId xmlns:a16="http://schemas.microsoft.com/office/drawing/2014/main" id="{86E98439-3E3A-0DDC-C354-82D3992AAD9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2525" y="1311104"/>
              <a:ext cx="326524" cy="375455"/>
            </a:xfrm>
            <a:custGeom>
              <a:avLst/>
              <a:gdLst>
                <a:gd name="T0" fmla="*/ 0 w 1188115"/>
                <a:gd name="T1" fmla="*/ 0 h 1366161"/>
                <a:gd name="T2" fmla="*/ 0 w 1188115"/>
                <a:gd name="T3" fmla="*/ 0 h 1366161"/>
                <a:gd name="T4" fmla="*/ 0 w 1188115"/>
                <a:gd name="T5" fmla="*/ 0 h 1366161"/>
                <a:gd name="T6" fmla="*/ 0 w 1188115"/>
                <a:gd name="T7" fmla="*/ 0 h 1366161"/>
                <a:gd name="T8" fmla="*/ 0 w 1188115"/>
                <a:gd name="T9" fmla="*/ 0 h 1366161"/>
                <a:gd name="T10" fmla="*/ 0 w 1188115"/>
                <a:gd name="T11" fmla="*/ 0 h 1366161"/>
                <a:gd name="T12" fmla="*/ 0 w 1188115"/>
                <a:gd name="T13" fmla="*/ 0 h 1366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88115" h="1366161">
                  <a:moveTo>
                    <a:pt x="57216" y="5201"/>
                  </a:moveTo>
                  <a:lnTo>
                    <a:pt x="1169150" y="650123"/>
                  </a:lnTo>
                  <a:cubicBezTo>
                    <a:pt x="1194437" y="664789"/>
                    <a:pt x="1194437" y="701372"/>
                    <a:pt x="1169150" y="716039"/>
                  </a:cubicBezTo>
                  <a:lnTo>
                    <a:pt x="57216" y="1360961"/>
                  </a:lnTo>
                  <a:cubicBezTo>
                    <a:pt x="31812" y="1375695"/>
                    <a:pt x="0" y="1357371"/>
                    <a:pt x="0" y="1328003"/>
                  </a:cubicBezTo>
                  <a:lnTo>
                    <a:pt x="0" y="38159"/>
                  </a:lnTo>
                  <a:cubicBezTo>
                    <a:pt x="0" y="8791"/>
                    <a:pt x="31812" y="-9533"/>
                    <a:pt x="57216" y="5201"/>
                  </a:cubicBezTo>
                </a:path>
              </a:pathLst>
            </a:custGeom>
            <a:gradFill rotWithShape="1">
              <a:gsLst>
                <a:gs pos="0">
                  <a:srgbClr val="2E75B6"/>
                </a:gs>
                <a:gs pos="52200">
                  <a:srgbClr val="27558B"/>
                </a:gs>
                <a:gs pos="100000">
                  <a:srgbClr val="203864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2788AAEA-AA8C-8D4D-FD8B-FAC4EE2F479C}"/>
              </a:ext>
            </a:extLst>
          </p:cNvPr>
          <p:cNvSpPr txBox="1"/>
          <p:nvPr userDrawn="1"/>
        </p:nvSpPr>
        <p:spPr>
          <a:xfrm>
            <a:off x="11049000" y="6375400"/>
            <a:ext cx="4413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9pPr>
          </a:lstStyle>
          <a:p>
            <a:pPr algn="ctr" eaLnBrk="1" hangingPunct="1">
              <a:defRPr/>
            </a:pPr>
            <a:fld id="{34F03A78-3F34-4FD1-98CD-0EFB4E53E79D}" type="slidenum">
              <a:rPr lang="zh-CN" altLang="en-US" sz="140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defRPr/>
              </a:pPr>
              <a:t>‹#›</a:t>
            </a:fld>
            <a:endParaRPr lang="zh-CN" altLang="en-US" sz="140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5D67D2D1-A947-B5DA-4246-FBF8CD0751EE}"/>
              </a:ext>
            </a:extLst>
          </p:cNvPr>
          <p:cNvSpPr/>
          <p:nvPr/>
        </p:nvSpPr>
        <p:spPr>
          <a:xfrm>
            <a:off x="774700" y="555625"/>
            <a:ext cx="84138" cy="84138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AE589D-C3B3-CCEE-AF35-D7DEADFA0637}"/>
              </a:ext>
            </a:extLst>
          </p:cNvPr>
          <p:cNvSpPr/>
          <p:nvPr userDrawn="1"/>
        </p:nvSpPr>
        <p:spPr>
          <a:xfrm>
            <a:off x="858838" y="554038"/>
            <a:ext cx="1016000" cy="1898650"/>
          </a:xfrm>
          <a:prstGeom prst="rect">
            <a:avLst/>
          </a:prstGeom>
          <a:gradFill>
            <a:gsLst>
              <a:gs pos="0">
                <a:srgbClr val="30518D"/>
              </a:gs>
              <a:gs pos="100000">
                <a:srgbClr val="0070C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2800" b="1">
              <a:solidFill>
                <a:schemeClr val="bg1"/>
              </a:solidFill>
              <a:cs typeface="+mn-ea"/>
              <a:sym typeface="汉仪旗黑-55简" panose="0002060004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4F8F1C81-A620-F02E-EBEC-168F14DA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20596-3237-4506-9E86-4A5352588F09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082199BB-3C68-DA3D-DEEC-E8FAC00B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936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>
            <a:extLst>
              <a:ext uri="{FF2B5EF4-FFF2-40B4-BE49-F238E27FC236}">
                <a16:creationId xmlns:a16="http://schemas.microsoft.com/office/drawing/2014/main" id="{31133711-0244-DA30-3F4C-259A606DB1B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95375" y="6437313"/>
            <a:ext cx="423863" cy="163512"/>
            <a:chOff x="592525" y="1311104"/>
            <a:chExt cx="967102" cy="375455"/>
          </a:xfrm>
        </p:grpSpPr>
        <p:sp>
          <p:nvSpPr>
            <p:cNvPr id="5" name="任意多边形: 形状 7">
              <a:extLst>
                <a:ext uri="{FF2B5EF4-FFF2-40B4-BE49-F238E27FC236}">
                  <a16:creationId xmlns:a16="http://schemas.microsoft.com/office/drawing/2014/main" id="{05A78ECF-E0EA-1FE9-1413-FBF42432B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103" y="1311104"/>
              <a:ext cx="326524" cy="375455"/>
            </a:xfrm>
            <a:custGeom>
              <a:avLst/>
              <a:gdLst>
                <a:gd name="T0" fmla="*/ 0 w 1188115"/>
                <a:gd name="T1" fmla="*/ 0 h 1366161"/>
                <a:gd name="T2" fmla="*/ 0 w 1188115"/>
                <a:gd name="T3" fmla="*/ 0 h 1366161"/>
                <a:gd name="T4" fmla="*/ 0 w 1188115"/>
                <a:gd name="T5" fmla="*/ 0 h 1366161"/>
                <a:gd name="T6" fmla="*/ 0 w 1188115"/>
                <a:gd name="T7" fmla="*/ 0 h 1366161"/>
                <a:gd name="T8" fmla="*/ 0 w 1188115"/>
                <a:gd name="T9" fmla="*/ 0 h 1366161"/>
                <a:gd name="T10" fmla="*/ 0 w 1188115"/>
                <a:gd name="T11" fmla="*/ 0 h 1366161"/>
                <a:gd name="T12" fmla="*/ 0 w 1188115"/>
                <a:gd name="T13" fmla="*/ 0 h 1366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88115" h="1366161">
                  <a:moveTo>
                    <a:pt x="57216" y="5201"/>
                  </a:moveTo>
                  <a:lnTo>
                    <a:pt x="1169150" y="650123"/>
                  </a:lnTo>
                  <a:cubicBezTo>
                    <a:pt x="1194437" y="664789"/>
                    <a:pt x="1194437" y="701372"/>
                    <a:pt x="1169150" y="716039"/>
                  </a:cubicBezTo>
                  <a:lnTo>
                    <a:pt x="57216" y="1360961"/>
                  </a:lnTo>
                  <a:cubicBezTo>
                    <a:pt x="31812" y="1375695"/>
                    <a:pt x="0" y="1357371"/>
                    <a:pt x="0" y="1328003"/>
                  </a:cubicBezTo>
                  <a:lnTo>
                    <a:pt x="0" y="38159"/>
                  </a:lnTo>
                  <a:cubicBezTo>
                    <a:pt x="0" y="8791"/>
                    <a:pt x="31812" y="-9533"/>
                    <a:pt x="57216" y="5201"/>
                  </a:cubicBezTo>
                </a:path>
              </a:pathLst>
            </a:custGeom>
            <a:gradFill rotWithShape="1">
              <a:gsLst>
                <a:gs pos="0">
                  <a:srgbClr val="2E75B6"/>
                </a:gs>
                <a:gs pos="52200">
                  <a:srgbClr val="27558B"/>
                </a:gs>
                <a:gs pos="100000">
                  <a:srgbClr val="203864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" name="任意多边形: 形状 8">
              <a:extLst>
                <a:ext uri="{FF2B5EF4-FFF2-40B4-BE49-F238E27FC236}">
                  <a16:creationId xmlns:a16="http://schemas.microsoft.com/office/drawing/2014/main" id="{7360BF38-C157-B544-B7D6-E09AF36C16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2525" y="1311104"/>
              <a:ext cx="326524" cy="375455"/>
            </a:xfrm>
            <a:custGeom>
              <a:avLst/>
              <a:gdLst>
                <a:gd name="T0" fmla="*/ 0 w 1188115"/>
                <a:gd name="T1" fmla="*/ 0 h 1366161"/>
                <a:gd name="T2" fmla="*/ 0 w 1188115"/>
                <a:gd name="T3" fmla="*/ 0 h 1366161"/>
                <a:gd name="T4" fmla="*/ 0 w 1188115"/>
                <a:gd name="T5" fmla="*/ 0 h 1366161"/>
                <a:gd name="T6" fmla="*/ 0 w 1188115"/>
                <a:gd name="T7" fmla="*/ 0 h 1366161"/>
                <a:gd name="T8" fmla="*/ 0 w 1188115"/>
                <a:gd name="T9" fmla="*/ 0 h 1366161"/>
                <a:gd name="T10" fmla="*/ 0 w 1188115"/>
                <a:gd name="T11" fmla="*/ 0 h 1366161"/>
                <a:gd name="T12" fmla="*/ 0 w 1188115"/>
                <a:gd name="T13" fmla="*/ 0 h 1366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88115" h="1366161">
                  <a:moveTo>
                    <a:pt x="57216" y="5201"/>
                  </a:moveTo>
                  <a:lnTo>
                    <a:pt x="1169150" y="650123"/>
                  </a:lnTo>
                  <a:cubicBezTo>
                    <a:pt x="1194437" y="664789"/>
                    <a:pt x="1194437" y="701372"/>
                    <a:pt x="1169150" y="716039"/>
                  </a:cubicBezTo>
                  <a:lnTo>
                    <a:pt x="57216" y="1360961"/>
                  </a:lnTo>
                  <a:cubicBezTo>
                    <a:pt x="31812" y="1375695"/>
                    <a:pt x="0" y="1357371"/>
                    <a:pt x="0" y="1328003"/>
                  </a:cubicBezTo>
                  <a:lnTo>
                    <a:pt x="0" y="38159"/>
                  </a:lnTo>
                  <a:cubicBezTo>
                    <a:pt x="0" y="8791"/>
                    <a:pt x="31812" y="-9533"/>
                    <a:pt x="57216" y="5201"/>
                  </a:cubicBezTo>
                </a:path>
              </a:pathLst>
            </a:custGeom>
            <a:gradFill rotWithShape="1">
              <a:gsLst>
                <a:gs pos="0">
                  <a:srgbClr val="2E75B6"/>
                </a:gs>
                <a:gs pos="52200">
                  <a:srgbClr val="27558B"/>
                </a:gs>
                <a:gs pos="100000">
                  <a:srgbClr val="203864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F02CFEC-0184-ADC8-059B-A68C397861F0}"/>
              </a:ext>
            </a:extLst>
          </p:cNvPr>
          <p:cNvSpPr txBox="1"/>
          <p:nvPr userDrawn="1"/>
        </p:nvSpPr>
        <p:spPr>
          <a:xfrm>
            <a:off x="10775950" y="6335713"/>
            <a:ext cx="44291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9pPr>
          </a:lstStyle>
          <a:p>
            <a:pPr algn="ctr" eaLnBrk="1" hangingPunct="1">
              <a:defRPr/>
            </a:pPr>
            <a:fld id="{B1D3D71E-E165-4C82-8779-A85F8FF3FA6B}" type="slidenum">
              <a:rPr lang="zh-CN" altLang="en-US" sz="140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defRPr/>
              </a:pPr>
              <a:t>‹#›</a:t>
            </a:fld>
            <a:endParaRPr lang="zh-CN" altLang="en-US" sz="140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10">
            <a:extLst>
              <a:ext uri="{FF2B5EF4-FFF2-40B4-BE49-F238E27FC236}">
                <a16:creationId xmlns:a16="http://schemas.microsoft.com/office/drawing/2014/main" id="{7D552CE6-F5F5-FA62-47E5-2DE46FA4769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95375" y="1130300"/>
            <a:ext cx="10001250" cy="4994275"/>
            <a:chOff x="529582" y="1276705"/>
            <a:chExt cx="10569600" cy="440320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2175D1-B7B2-0B47-BF32-DE5C33126A78}"/>
                </a:ext>
              </a:extLst>
            </p:cNvPr>
            <p:cNvSpPr/>
            <p:nvPr/>
          </p:nvSpPr>
          <p:spPr>
            <a:xfrm>
              <a:off x="529582" y="1276705"/>
              <a:ext cx="10569600" cy="4403205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0" dist="190500" dir="13500000" algn="br" rotWithShape="0">
                <a:srgbClr val="FFFFFF"/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FF0000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EFBC58C-AED2-2F6C-FA8C-71EBE06BC489}"/>
                </a:ext>
              </a:extLst>
            </p:cNvPr>
            <p:cNvSpPr/>
            <p:nvPr/>
          </p:nvSpPr>
          <p:spPr>
            <a:xfrm>
              <a:off x="529582" y="1276705"/>
              <a:ext cx="10569600" cy="4402800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gradFill flip="none" rotWithShape="1">
                <a:gsLst>
                  <a:gs pos="0">
                    <a:schemeClr val="bg1"/>
                  </a:gs>
                  <a:gs pos="100000">
                    <a:srgbClr val="EEF2F9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381000" dist="127000" dir="2700000" algn="tl" rotWithShape="0">
                <a:srgbClr val="4472C4">
                  <a:lumMod val="40000"/>
                  <a:lumOff val="60000"/>
                  <a:alpha val="80000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EEF2F9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>
            <a:extLst>
              <a:ext uri="{FF2B5EF4-FFF2-40B4-BE49-F238E27FC236}">
                <a16:creationId xmlns:a16="http://schemas.microsoft.com/office/drawing/2014/main" id="{6A2A1B02-B629-4623-5AD5-B3E36A09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1E277-EFAE-4BBF-A013-C6BE461226F9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14FF8E3-2E07-A1DC-9C34-E739B7F0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F55BB68F-C4E8-F89A-A535-8258643D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99A6D-7889-4884-AF2C-6C8CDE881E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65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3DD15E8-F95E-C31F-52C4-08524875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19FE47-BCBA-49EC-9BC3-700352FC8513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85DD90B-0457-C1CB-7A8B-E3C2CA00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6BF2025-0CB8-0DD3-8029-FFE776A8A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735D9-DF1C-421B-AC82-429156C813C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49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E5737A5-DE1D-B465-F164-CA86F5FB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6EF53-2B4B-4DB7-AD84-78B5DCEE1BF5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3AE0D7DF-3B35-3811-8450-954AB483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2CB04B8-F43C-2036-B4F1-3A014EEB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9ACD3-E82B-4D42-9F42-56A610F51F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19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5B6355B-A9FC-102E-0988-A96BCB95F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37A41-9A22-435B-A8E0-5C7784B803CE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43A4D409-BFA9-7FD8-0C01-6EED9B5D1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7A3354C-28A9-D38D-D47A-D6B88C82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E9E63-61B7-4064-9803-C396714583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07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>
            <a:extLst>
              <a:ext uri="{FF2B5EF4-FFF2-40B4-BE49-F238E27FC236}">
                <a16:creationId xmlns:a16="http://schemas.microsoft.com/office/drawing/2014/main" id="{7820929A-8ABD-4F5D-2E19-224AA92AD7A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66688" y="173038"/>
            <a:ext cx="11872912" cy="6511925"/>
            <a:chOff x="529582" y="1276705"/>
            <a:chExt cx="10569600" cy="440320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F17AE3E-6F6C-61D6-C74B-D5F3F9D1243B}"/>
                </a:ext>
              </a:extLst>
            </p:cNvPr>
            <p:cNvSpPr/>
            <p:nvPr/>
          </p:nvSpPr>
          <p:spPr>
            <a:xfrm>
              <a:off x="529582" y="1276705"/>
              <a:ext cx="10569600" cy="4403205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0" dist="190500" dir="13500000" algn="br" rotWithShape="0">
                <a:srgbClr val="FFFFFF"/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FF0000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ABFE940-8FEF-13D9-98A4-6A49DCC84605}"/>
                </a:ext>
              </a:extLst>
            </p:cNvPr>
            <p:cNvSpPr/>
            <p:nvPr/>
          </p:nvSpPr>
          <p:spPr>
            <a:xfrm>
              <a:off x="529582" y="1276705"/>
              <a:ext cx="10569600" cy="4402800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gradFill flip="none" rotWithShape="1">
                <a:gsLst>
                  <a:gs pos="0">
                    <a:schemeClr val="bg1"/>
                  </a:gs>
                  <a:gs pos="100000">
                    <a:srgbClr val="EEF2F9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381000" dist="127000" dir="2700000" algn="tl" rotWithShape="0">
                <a:srgbClr val="4472C4">
                  <a:lumMod val="40000"/>
                  <a:lumOff val="60000"/>
                  <a:alpha val="80000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EEF2F9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</p:grpSp>
      <p:grpSp>
        <p:nvGrpSpPr>
          <p:cNvPr id="5" name="组合 9">
            <a:extLst>
              <a:ext uri="{FF2B5EF4-FFF2-40B4-BE49-F238E27FC236}">
                <a16:creationId xmlns:a16="http://schemas.microsoft.com/office/drawing/2014/main" id="{A642C2D7-2B69-71EF-1A13-207BB65CC8BF}"/>
              </a:ext>
            </a:extLst>
          </p:cNvPr>
          <p:cNvGrpSpPr>
            <a:grpSpLocks/>
          </p:cNvGrpSpPr>
          <p:nvPr userDrawn="1"/>
        </p:nvGrpSpPr>
        <p:grpSpPr bwMode="auto">
          <a:xfrm flipH="1">
            <a:off x="385763" y="442913"/>
            <a:ext cx="223837" cy="242887"/>
            <a:chOff x="266700" y="304800"/>
            <a:chExt cx="316706" cy="34290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405616C-D0D6-2D1E-FE17-9720418C0D24}"/>
                </a:ext>
              </a:extLst>
            </p:cNvPr>
            <p:cNvCxnSpPr/>
            <p:nvPr/>
          </p:nvCxnSpPr>
          <p:spPr>
            <a:xfrm>
              <a:off x="266700" y="304800"/>
              <a:ext cx="0" cy="342900"/>
            </a:xfrm>
            <a:prstGeom prst="line">
              <a:avLst/>
            </a:prstGeom>
            <a:ln w="34925" cap="rnd">
              <a:solidFill>
                <a:srgbClr val="2F4F89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C93C171-597F-2E41-7A2E-00DFDC9C79E7}"/>
                </a:ext>
              </a:extLst>
            </p:cNvPr>
            <p:cNvCxnSpPr/>
            <p:nvPr/>
          </p:nvCxnSpPr>
          <p:spPr>
            <a:xfrm>
              <a:off x="423930" y="304800"/>
              <a:ext cx="0" cy="212911"/>
            </a:xfrm>
            <a:prstGeom prst="line">
              <a:avLst/>
            </a:prstGeom>
            <a:ln w="34925" cap="rnd">
              <a:solidFill>
                <a:srgbClr val="2F4F89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07F0002D-8415-425D-CF7E-CDD7C76D99E5}"/>
                </a:ext>
              </a:extLst>
            </p:cNvPr>
            <p:cNvCxnSpPr/>
            <p:nvPr/>
          </p:nvCxnSpPr>
          <p:spPr>
            <a:xfrm>
              <a:off x="583406" y="304800"/>
              <a:ext cx="0" cy="129989"/>
            </a:xfrm>
            <a:prstGeom prst="line">
              <a:avLst/>
            </a:prstGeom>
            <a:ln w="34925" cap="rnd">
              <a:solidFill>
                <a:srgbClr val="2F4F89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571A7B4-86D6-8307-CA38-46101EC5776F}"/>
              </a:ext>
            </a:extLst>
          </p:cNvPr>
          <p:cNvSpPr txBox="1"/>
          <p:nvPr userDrawn="1"/>
        </p:nvSpPr>
        <p:spPr>
          <a:xfrm>
            <a:off x="11590338" y="6356350"/>
            <a:ext cx="4413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9pPr>
          </a:lstStyle>
          <a:p>
            <a:pPr algn="ctr" eaLnBrk="1" hangingPunct="1">
              <a:defRPr/>
            </a:pPr>
            <a:fld id="{29632EA4-D4DB-44B3-A92B-1A047775B3C4}" type="slidenum">
              <a:rPr lang="zh-CN" altLang="en-US" sz="140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defRPr/>
              </a:pPr>
              <a:t>‹#›</a:t>
            </a:fld>
            <a:endParaRPr lang="zh-CN" altLang="en-US" sz="140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1">
            <a:extLst>
              <a:ext uri="{FF2B5EF4-FFF2-40B4-BE49-F238E27FC236}">
                <a16:creationId xmlns:a16="http://schemas.microsoft.com/office/drawing/2014/main" id="{DA331633-0D98-6F5D-245A-D79411C6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3C296-E433-4C00-9234-1615E1872B68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11" name="页脚占位符 2">
            <a:extLst>
              <a:ext uri="{FF2B5EF4-FFF2-40B4-BE49-F238E27FC236}">
                <a16:creationId xmlns:a16="http://schemas.microsoft.com/office/drawing/2014/main" id="{3322F1EB-390F-F2C2-93D4-05B7C86C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E1550C7-DE7A-B123-1AAD-9B868E41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D6E288-87D6-4F60-BA8F-FA8CEEDA59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11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9C0431-A476-5CAC-5AE8-6E435F7B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D03B7-94F2-492D-8E3C-5A670CBA6EF2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9C59562-BF91-5BC1-63BD-E9322505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A098559-0C5B-6F8C-236A-3E7ECD20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91E04-311D-49E0-8B7B-87CF6DE461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466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96B1E59-9B57-F64E-82CB-A6BCB2CB6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F33CB-5F17-4493-AD47-52E55FDE828E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766CDAC-5466-0529-7034-04942518D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8E058A0-F2BA-4ED6-9D14-F1897D50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C3831-D008-4122-AAA8-83C8B093E4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74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072470-235A-2D40-DFDE-1B66C864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EBFA7-8F60-43B8-81C4-D3F670BCCB26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AF3ABD-C6BD-E8FD-CE4F-F0869B3A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D05D62-8BD2-868E-A0A4-E516DA52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B306F-77EA-4643-B158-7237256D9E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23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97822-9299-B9D7-1D2B-D1788A06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12C071-8983-4DB5-8D49-FF3C6BB38DA2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B93B7B-7B9A-CA8F-56FA-9C1775D8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357991-39AB-5675-2A36-A9BF23B8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D5D533-3A66-4155-80F1-C6598F2BE6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838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★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77423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F90DC324-7BA7-28F5-472E-028985ADF7AA}"/>
              </a:ext>
            </a:extLst>
          </p:cNvPr>
          <p:cNvSpPr txBox="1"/>
          <p:nvPr userDrawn="1"/>
        </p:nvSpPr>
        <p:spPr>
          <a:xfrm>
            <a:off x="5651500" y="92075"/>
            <a:ext cx="5768975" cy="5349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1585" b="1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Helvetica Neue" panose="02000503000000020004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endParaRPr sz="3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B216AB-4890-4EB2-A013-810CB17658B6}"/>
              </a:ext>
            </a:extLst>
          </p:cNvPr>
          <p:cNvSpPr txBox="1"/>
          <p:nvPr userDrawn="1"/>
        </p:nvSpPr>
        <p:spPr>
          <a:xfrm>
            <a:off x="11420475" y="92075"/>
            <a:ext cx="614363" cy="534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1585" b="1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Helvetica Neue" panose="02000503000000020004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endParaRPr sz="3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A30DF5C-7400-4C0B-A754-F2B7E59BCDE4}"/>
              </a:ext>
            </a:extLst>
          </p:cNvPr>
          <p:cNvSpPr txBox="1"/>
          <p:nvPr userDrawn="1"/>
        </p:nvSpPr>
        <p:spPr>
          <a:xfrm>
            <a:off x="11442700" y="161925"/>
            <a:ext cx="569913" cy="36988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5842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1pPr>
            <a:lvl2pPr indent="228600" defTabSz="5842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2pPr>
            <a:lvl3pPr indent="457200" defTabSz="5842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3pPr>
            <a:lvl4pPr indent="685800" defTabSz="5842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4pPr>
            <a:lvl5pPr indent="914400" defTabSz="5842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5pPr>
            <a:lvl6pPr marL="457200" indent="914400" defTabSz="584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6pPr>
            <a:lvl7pPr marL="914400" indent="914400" defTabSz="584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7pPr>
            <a:lvl8pPr marL="1371600" indent="914400" defTabSz="584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8pPr>
            <a:lvl9pPr marL="1828800" indent="914400" defTabSz="584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9pPr>
          </a:lstStyle>
          <a:p>
            <a:pPr algn="ctr" eaLnBrk="1">
              <a:defRPr/>
            </a:pPr>
            <a:fld id="{4A4283E1-EA2C-453E-B2F0-B3460465BD23}" type="slidenum">
              <a:rPr lang="zh-CN" altLang="en-US" sz="24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Helvetica Neue Light"/>
              </a:rPr>
              <a:pPr algn="ctr" eaLnBrk="1">
                <a:defRPr/>
              </a:pPr>
              <a:t>‹#›</a:t>
            </a:fld>
            <a:endParaRPr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Helvetica Neue Light"/>
            </a:endParaRPr>
          </a:p>
        </p:txBody>
      </p:sp>
      <p:cxnSp>
        <p:nvCxnSpPr>
          <p:cNvPr id="5" name="直接连接符 9">
            <a:extLst>
              <a:ext uri="{FF2B5EF4-FFF2-40B4-BE49-F238E27FC236}">
                <a16:creationId xmlns:a16="http://schemas.microsoft.com/office/drawing/2014/main" id="{4D2FB9AB-3ADB-C03F-B99D-74A0CAFA1B35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-11113" y="655638"/>
            <a:ext cx="12203113" cy="0"/>
          </a:xfrm>
          <a:prstGeom prst="line">
            <a:avLst/>
          </a:prstGeom>
          <a:noFill/>
          <a:ln w="952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组合 10">
            <a:extLst>
              <a:ext uri="{FF2B5EF4-FFF2-40B4-BE49-F238E27FC236}">
                <a16:creationId xmlns:a16="http://schemas.microsoft.com/office/drawing/2014/main" id="{90AFE98C-00D6-432C-B92C-90F29E4A01B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5275" y="188913"/>
            <a:ext cx="412750" cy="303212"/>
            <a:chOff x="316737" y="448050"/>
            <a:chExt cx="236308" cy="231862"/>
          </a:xfrm>
        </p:grpSpPr>
        <p:sp>
          <p:nvSpPr>
            <p:cNvPr id="7" name="圆角矩形 13">
              <a:extLst>
                <a:ext uri="{FF2B5EF4-FFF2-40B4-BE49-F238E27FC236}">
                  <a16:creationId xmlns:a16="http://schemas.microsoft.com/office/drawing/2014/main" id="{50E4ABBB-9F61-AE0D-5360-F408122C3A0C}"/>
                </a:ext>
              </a:extLst>
            </p:cNvPr>
            <p:cNvSpPr/>
            <p:nvPr userDrawn="1"/>
          </p:nvSpPr>
          <p:spPr>
            <a:xfrm>
              <a:off x="316737" y="448050"/>
              <a:ext cx="149056" cy="149314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defTabSz="36131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71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圆角矩形 14">
              <a:extLst>
                <a:ext uri="{FF2B5EF4-FFF2-40B4-BE49-F238E27FC236}">
                  <a16:creationId xmlns:a16="http://schemas.microsoft.com/office/drawing/2014/main" id="{69BD23FD-C545-D93C-A0BF-1AC2201D7E02}"/>
                </a:ext>
              </a:extLst>
            </p:cNvPr>
            <p:cNvSpPr/>
            <p:nvPr userDrawn="1"/>
          </p:nvSpPr>
          <p:spPr>
            <a:xfrm>
              <a:off x="386721" y="513603"/>
              <a:ext cx="166324" cy="166309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anchor="ctr"/>
            <a:lstStyle/>
            <a:p>
              <a:pPr defTabSz="36131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71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1095580" y="178699"/>
            <a:ext cx="2627642" cy="335926"/>
          </a:xfrm>
        </p:spPr>
        <p:txBody>
          <a:bodyPr wrap="none">
            <a:spAutoFit/>
          </a:bodyPr>
          <a:lstStyle>
            <a:lvl1pPr algn="ctr">
              <a:defRPr kumimoji="0" lang="zh-CN" altLang="en-US" sz="1585" b="1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Helvetica Neue" panose="02000503000000020004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7335504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6B5197-A6EE-952E-4D8A-4277D7DC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B654-EB13-4694-B27E-36B7E05AA6CD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E795B4-5B1A-89F5-4A56-2A684115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4517C6-82E7-3F90-638E-1D1C1376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501FC-9516-4A5D-AF40-B4DE68F054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298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>
            <a:extLst>
              <a:ext uri="{FF2B5EF4-FFF2-40B4-BE49-F238E27FC236}">
                <a16:creationId xmlns:a16="http://schemas.microsoft.com/office/drawing/2014/main" id="{7897022B-FDB2-9E7B-FFDD-150913F1715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31813" y="649288"/>
            <a:ext cx="11128375" cy="5559425"/>
            <a:chOff x="529582" y="1276705"/>
            <a:chExt cx="10569600" cy="440320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63D9209-D4AC-214E-04A8-35083DA839EF}"/>
                </a:ext>
              </a:extLst>
            </p:cNvPr>
            <p:cNvSpPr/>
            <p:nvPr/>
          </p:nvSpPr>
          <p:spPr>
            <a:xfrm>
              <a:off x="529582" y="1276705"/>
              <a:ext cx="10569600" cy="4403205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0" dist="190500" dir="13500000" algn="br" rotWithShape="0">
                <a:srgbClr val="FFFFFF"/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FF0000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7B8D831-0B27-2A90-8393-C79E2A283F33}"/>
                </a:ext>
              </a:extLst>
            </p:cNvPr>
            <p:cNvSpPr/>
            <p:nvPr/>
          </p:nvSpPr>
          <p:spPr>
            <a:xfrm>
              <a:off x="529582" y="1276705"/>
              <a:ext cx="10569600" cy="4402800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gradFill flip="none" rotWithShape="1">
                <a:gsLst>
                  <a:gs pos="0">
                    <a:schemeClr val="bg1"/>
                  </a:gs>
                  <a:gs pos="100000">
                    <a:srgbClr val="EEF2F9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381000" dist="127000" dir="2700000" algn="tl" rotWithShape="0">
                <a:srgbClr val="4472C4">
                  <a:lumMod val="40000"/>
                  <a:lumOff val="60000"/>
                  <a:alpha val="80000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EEF2F9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E192FB9B-0F5D-4D57-779F-52875432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265CD-6F54-4A65-8F8F-FBBCD38816CC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5EF59B82-F957-67C4-8051-8C5730D6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B255833-95A2-289F-DDA1-FF42E394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3D5CF-7729-4033-8437-B4073E4622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157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>
            <a:extLst>
              <a:ext uri="{FF2B5EF4-FFF2-40B4-BE49-F238E27FC236}">
                <a16:creationId xmlns:a16="http://schemas.microsoft.com/office/drawing/2014/main" id="{0CA5727C-CF7F-BD8F-CE4A-A4AF777C58B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31813" y="649288"/>
            <a:ext cx="11128375" cy="5559425"/>
            <a:chOff x="529582" y="1276705"/>
            <a:chExt cx="10569600" cy="440320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F3CDEED-EF17-C80D-D702-80B57791AF50}"/>
                </a:ext>
              </a:extLst>
            </p:cNvPr>
            <p:cNvSpPr/>
            <p:nvPr/>
          </p:nvSpPr>
          <p:spPr>
            <a:xfrm>
              <a:off x="529582" y="1276705"/>
              <a:ext cx="10569600" cy="4403205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0" dist="190500" dir="13500000" algn="br" rotWithShape="0">
                <a:srgbClr val="FFFFFF"/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FF0000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88CE1DE-DCA8-943F-820D-5479672EDC56}"/>
                </a:ext>
              </a:extLst>
            </p:cNvPr>
            <p:cNvSpPr/>
            <p:nvPr/>
          </p:nvSpPr>
          <p:spPr>
            <a:xfrm>
              <a:off x="529582" y="1276705"/>
              <a:ext cx="10569600" cy="4402800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gradFill flip="none" rotWithShape="1">
                <a:gsLst>
                  <a:gs pos="0">
                    <a:schemeClr val="bg1"/>
                  </a:gs>
                  <a:gs pos="100000">
                    <a:srgbClr val="EEF2F9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381000" dist="127000" dir="2700000" algn="tl" rotWithShape="0">
                <a:srgbClr val="4472C4">
                  <a:lumMod val="40000"/>
                  <a:lumOff val="60000"/>
                  <a:alpha val="80000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EEF2F9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</p:grp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58FD6F9-B5A9-7D7F-9E22-2F6009E21323}"/>
              </a:ext>
            </a:extLst>
          </p:cNvPr>
          <p:cNvSpPr txBox="1"/>
          <p:nvPr userDrawn="1"/>
        </p:nvSpPr>
        <p:spPr>
          <a:xfrm>
            <a:off x="11049000" y="6375400"/>
            <a:ext cx="4413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9pPr>
          </a:lstStyle>
          <a:p>
            <a:pPr algn="ctr" eaLnBrk="1" hangingPunct="1">
              <a:defRPr/>
            </a:pPr>
            <a:fld id="{6EFD8E4A-7B89-4794-80CF-48061272E175}" type="slidenum">
              <a:rPr lang="zh-CN" altLang="en-US" sz="140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defRPr/>
              </a:pPr>
              <a:t>‹#›</a:t>
            </a:fld>
            <a:endParaRPr lang="zh-CN" altLang="en-US" sz="140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6E53BCC-73F6-4148-8324-1859FA459FD0}"/>
              </a:ext>
            </a:extLst>
          </p:cNvPr>
          <p:cNvSpPr/>
          <p:nvPr/>
        </p:nvSpPr>
        <p:spPr>
          <a:xfrm>
            <a:off x="774700" y="555625"/>
            <a:ext cx="84138" cy="84138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0B8911-BA71-46A1-8BA8-6D4C688BEEAD}"/>
              </a:ext>
            </a:extLst>
          </p:cNvPr>
          <p:cNvSpPr/>
          <p:nvPr userDrawn="1"/>
        </p:nvSpPr>
        <p:spPr>
          <a:xfrm>
            <a:off x="858838" y="554038"/>
            <a:ext cx="1016000" cy="1898650"/>
          </a:xfrm>
          <a:prstGeom prst="rect">
            <a:avLst/>
          </a:prstGeom>
          <a:gradFill>
            <a:gsLst>
              <a:gs pos="0">
                <a:srgbClr val="30518D"/>
              </a:gs>
              <a:gs pos="100000">
                <a:srgbClr val="0070C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2800" b="1">
              <a:solidFill>
                <a:schemeClr val="bg1"/>
              </a:solidFill>
              <a:cs typeface="+mn-ea"/>
              <a:sym typeface="汉仪旗黑-55简" panose="0002060004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A6CC4F19-6565-DD79-078D-FE958F0F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39D0F-5A00-4A19-8AE2-F443BB07A26B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0B87CA94-8D0D-6438-9FAB-8FFDD8C84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097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A96E884-AA7A-4CFE-7061-584855251CD2}"/>
              </a:ext>
            </a:extLst>
          </p:cNvPr>
          <p:cNvSpPr txBox="1"/>
          <p:nvPr userDrawn="1"/>
        </p:nvSpPr>
        <p:spPr>
          <a:xfrm>
            <a:off x="10775950" y="6335713"/>
            <a:ext cx="44291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9pPr>
          </a:lstStyle>
          <a:p>
            <a:pPr algn="ctr" eaLnBrk="1" hangingPunct="1">
              <a:defRPr/>
            </a:pPr>
            <a:fld id="{67E347BE-61F5-4616-A31D-38C9EE0A86F4}" type="slidenum">
              <a:rPr lang="zh-CN" altLang="en-US" sz="140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defRPr/>
              </a:pPr>
              <a:t>‹#›</a:t>
            </a:fld>
            <a:endParaRPr lang="zh-CN" altLang="en-US" sz="140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组合 7">
            <a:extLst>
              <a:ext uri="{FF2B5EF4-FFF2-40B4-BE49-F238E27FC236}">
                <a16:creationId xmlns:a16="http://schemas.microsoft.com/office/drawing/2014/main" id="{8A3DC857-EF17-FCCD-358B-3B3A699C0FA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95375" y="1130300"/>
            <a:ext cx="10001250" cy="4994275"/>
            <a:chOff x="529582" y="1276705"/>
            <a:chExt cx="10569600" cy="440320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A4F6474-FD38-C9F4-F161-7A5089DE3C8A}"/>
                </a:ext>
              </a:extLst>
            </p:cNvPr>
            <p:cNvSpPr/>
            <p:nvPr/>
          </p:nvSpPr>
          <p:spPr>
            <a:xfrm>
              <a:off x="529582" y="1276705"/>
              <a:ext cx="10569600" cy="4403205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0" dist="190500" dir="13500000" algn="br" rotWithShape="0">
                <a:srgbClr val="FFFFFF"/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FF0000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6F75154-6E3E-4F2F-8EDB-B70E266FDE49}"/>
                </a:ext>
              </a:extLst>
            </p:cNvPr>
            <p:cNvSpPr/>
            <p:nvPr/>
          </p:nvSpPr>
          <p:spPr>
            <a:xfrm>
              <a:off x="529582" y="1276705"/>
              <a:ext cx="10569600" cy="4402800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gradFill flip="none" rotWithShape="1">
                <a:gsLst>
                  <a:gs pos="0">
                    <a:schemeClr val="bg1"/>
                  </a:gs>
                  <a:gs pos="100000">
                    <a:srgbClr val="EEF2F9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381000" dist="127000" dir="2700000" algn="tl" rotWithShape="0">
                <a:srgbClr val="4472C4">
                  <a:lumMod val="40000"/>
                  <a:lumOff val="60000"/>
                  <a:alpha val="80000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EEF2F9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79645D09-BA90-A501-9FD8-97844D4C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46B43-ABBA-416B-8D32-16772A316359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C81ADC17-F566-F061-7E26-4F72B6F14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7F53344D-3A94-3B0D-CF68-921D1368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BA0B1-0BE6-4687-A7FE-EB6BA51E0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081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AEDFB17-E374-D85B-CD27-68B59E74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28A08-4DBD-4448-8855-3C263CDAAF19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43A294B-B6C9-CC34-9539-6E2DAF92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1BE0DD9-D9D3-4106-7724-B1B3EDB6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13A78-8B1D-4E18-A498-A6E1E43879B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7121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8B7AF3F-124B-C329-598B-EB20A81AB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055C9-2CCA-4D3A-A40B-68F41604AA2B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CC5B8B7C-3024-1D97-0253-B54B221C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5A67D79-5D5F-44D2-1225-BF737454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9728C-976E-48E7-9704-2AE28699C8C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1317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CB774ED6-90E4-DE9F-8913-FAC28E48A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2CDCD1-D1FF-4E0F-B10C-333BE2FD23E6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6F8F547-A21C-E400-A6E6-B28B1BE6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A0518F0-8A80-3DB2-F9E4-D72E37C1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AD4F0-3BB3-4E9F-9074-1605BC7997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584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>
            <a:extLst>
              <a:ext uri="{FF2B5EF4-FFF2-40B4-BE49-F238E27FC236}">
                <a16:creationId xmlns:a16="http://schemas.microsoft.com/office/drawing/2014/main" id="{6B4AE5EA-A68E-23B5-E87C-28A4A2BA7E8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66688" y="173038"/>
            <a:ext cx="11872912" cy="6511925"/>
            <a:chOff x="529582" y="1276705"/>
            <a:chExt cx="10569600" cy="440320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86936EE-2BD7-13A8-93E9-345588B94EC0}"/>
                </a:ext>
              </a:extLst>
            </p:cNvPr>
            <p:cNvSpPr/>
            <p:nvPr/>
          </p:nvSpPr>
          <p:spPr>
            <a:xfrm>
              <a:off x="529582" y="1276705"/>
              <a:ext cx="10569600" cy="4403205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0" dist="190500" dir="13500000" algn="br" rotWithShape="0">
                <a:srgbClr val="FFFFFF"/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FF0000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FD44A0B-F27A-EF44-6C87-DA13FC9BBA6A}"/>
                </a:ext>
              </a:extLst>
            </p:cNvPr>
            <p:cNvSpPr/>
            <p:nvPr/>
          </p:nvSpPr>
          <p:spPr>
            <a:xfrm>
              <a:off x="529582" y="1276705"/>
              <a:ext cx="10569600" cy="4402800"/>
            </a:xfrm>
            <a:prstGeom prst="rect">
              <a:avLst/>
            </a:prstGeom>
            <a:solidFill>
              <a:srgbClr val="EEF2F9"/>
            </a:solidFill>
            <a:ln w="12700" cap="flat" cmpd="sng" algn="ctr">
              <a:gradFill flip="none" rotWithShape="1">
                <a:gsLst>
                  <a:gs pos="0">
                    <a:schemeClr val="bg1"/>
                  </a:gs>
                  <a:gs pos="100000">
                    <a:srgbClr val="EEF2F9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381000" dist="127000" dir="2700000" algn="tl" rotWithShape="0">
                <a:srgbClr val="4472C4">
                  <a:lumMod val="40000"/>
                  <a:lumOff val="60000"/>
                  <a:alpha val="80000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600" kern="0" dirty="0">
                <a:solidFill>
                  <a:srgbClr val="EEF2F9"/>
                </a:solidFill>
                <a:latin typeface="汉仪旗黑-55简" charset="-122"/>
                <a:ea typeface="汉仪旗黑-55简" charset="-122"/>
                <a:cs typeface="+mn-cs"/>
                <a:sym typeface="汉仪旗黑-55简" panose="00020600040101010101" charset="-122"/>
              </a:endParaRPr>
            </a:p>
          </p:txBody>
        </p:sp>
      </p:grpSp>
      <p:grpSp>
        <p:nvGrpSpPr>
          <p:cNvPr id="5" name="组合 9">
            <a:extLst>
              <a:ext uri="{FF2B5EF4-FFF2-40B4-BE49-F238E27FC236}">
                <a16:creationId xmlns:a16="http://schemas.microsoft.com/office/drawing/2014/main" id="{99DC6341-81F9-6D54-6E26-BFC305BA987F}"/>
              </a:ext>
            </a:extLst>
          </p:cNvPr>
          <p:cNvGrpSpPr>
            <a:grpSpLocks/>
          </p:cNvGrpSpPr>
          <p:nvPr userDrawn="1"/>
        </p:nvGrpSpPr>
        <p:grpSpPr bwMode="auto">
          <a:xfrm flipH="1">
            <a:off x="385763" y="442913"/>
            <a:ext cx="223837" cy="242887"/>
            <a:chOff x="266700" y="304800"/>
            <a:chExt cx="316706" cy="34290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046EE9C-1E6F-979A-6C46-10BE92E2FBD6}"/>
                </a:ext>
              </a:extLst>
            </p:cNvPr>
            <p:cNvCxnSpPr/>
            <p:nvPr/>
          </p:nvCxnSpPr>
          <p:spPr>
            <a:xfrm>
              <a:off x="266700" y="304800"/>
              <a:ext cx="0" cy="342900"/>
            </a:xfrm>
            <a:prstGeom prst="line">
              <a:avLst/>
            </a:prstGeom>
            <a:ln w="34925" cap="rnd">
              <a:solidFill>
                <a:srgbClr val="2F4F89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06AE06A-47B8-1439-60DD-E66B5CDD4AEF}"/>
                </a:ext>
              </a:extLst>
            </p:cNvPr>
            <p:cNvCxnSpPr/>
            <p:nvPr/>
          </p:nvCxnSpPr>
          <p:spPr>
            <a:xfrm>
              <a:off x="423930" y="304800"/>
              <a:ext cx="0" cy="212911"/>
            </a:xfrm>
            <a:prstGeom prst="line">
              <a:avLst/>
            </a:prstGeom>
            <a:ln w="34925" cap="rnd">
              <a:solidFill>
                <a:srgbClr val="2F4F89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B9B78E2-AA12-EE48-C037-03218B774408}"/>
                </a:ext>
              </a:extLst>
            </p:cNvPr>
            <p:cNvCxnSpPr/>
            <p:nvPr/>
          </p:nvCxnSpPr>
          <p:spPr>
            <a:xfrm>
              <a:off x="583406" y="304800"/>
              <a:ext cx="0" cy="129989"/>
            </a:xfrm>
            <a:prstGeom prst="line">
              <a:avLst/>
            </a:prstGeom>
            <a:ln w="34925" cap="rnd">
              <a:solidFill>
                <a:srgbClr val="2F4F89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3E5B9FF-1C25-3DB5-0F86-B368C363C0FA}"/>
              </a:ext>
            </a:extLst>
          </p:cNvPr>
          <p:cNvSpPr txBox="1"/>
          <p:nvPr userDrawn="1"/>
        </p:nvSpPr>
        <p:spPr>
          <a:xfrm>
            <a:off x="11590338" y="6356350"/>
            <a:ext cx="4413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9pPr>
          </a:lstStyle>
          <a:p>
            <a:pPr algn="ctr" eaLnBrk="1" hangingPunct="1">
              <a:defRPr/>
            </a:pPr>
            <a:fld id="{75286134-5DCA-4681-AB0B-B1B94C54EE1B}" type="slidenum">
              <a:rPr lang="zh-CN" altLang="en-US" sz="140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defRPr/>
              </a:pPr>
              <a:t>‹#›</a:t>
            </a:fld>
            <a:endParaRPr lang="zh-CN" altLang="en-US" sz="140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1">
            <a:extLst>
              <a:ext uri="{FF2B5EF4-FFF2-40B4-BE49-F238E27FC236}">
                <a16:creationId xmlns:a16="http://schemas.microsoft.com/office/drawing/2014/main" id="{4328A44C-1BB4-67D5-218D-9767B050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90EB0-ADE6-4227-8E9F-A17BCD76A08F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11" name="页脚占位符 2">
            <a:extLst>
              <a:ext uri="{FF2B5EF4-FFF2-40B4-BE49-F238E27FC236}">
                <a16:creationId xmlns:a16="http://schemas.microsoft.com/office/drawing/2014/main" id="{F4AFF65E-A279-0141-5B92-C32074C0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DDE8FB8F-4369-B19E-CAEE-AE3B3C99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404D9-AF5E-4196-B410-0C23A27DCF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64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44299C9-4951-DC01-11F1-E037CAA7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5C002-BA4B-4CFA-886A-375DD0311B4F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8B504AD-2D65-BB43-AC98-5B31C8EA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14DC404-0828-7ACF-2273-8D52FEE1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79C0F-00F1-4CB9-BF8F-FF2C52ED9F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817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07054F1-C4CA-E2A5-FA72-C49CFDA8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D67EE-8093-484E-A743-5F0D0D9FE100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9B7D537-7A49-F3E9-8B1E-2DA317793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A8583E5-0D62-6C38-CB25-56159E31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454E17-8536-4F9B-987B-1D9531BF3B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204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61EB16-E3C0-39DF-1F85-C58B8DE4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FDA78D-5073-4E84-9B6F-A1D18D71784B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33CE37-9CDA-C735-CD77-1547761D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B659F4-8284-6E33-CE56-07507BDD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0F9F4-DE67-412D-B702-3675F57E0FA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817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3F9BB6-CCFF-1029-1283-136D9BA07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28AA9-919E-4133-9816-EAA97211205D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EBCB2-413D-2DA8-08B8-9986571B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B99973-3C7F-CAB4-BB6A-297C9B11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F6652A-3FDF-419D-A060-D64C1A8D3B3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9619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★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56170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865F86B0-DA4F-FCB2-705D-C15895125395}"/>
              </a:ext>
            </a:extLst>
          </p:cNvPr>
          <p:cNvSpPr txBox="1"/>
          <p:nvPr userDrawn="1"/>
        </p:nvSpPr>
        <p:spPr>
          <a:xfrm>
            <a:off x="5651500" y="92075"/>
            <a:ext cx="5768975" cy="5349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1585" b="1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Helvetica Neue" panose="02000503000000020004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endParaRPr sz="3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91083A2-65F9-3A38-7D38-8F9203179842}"/>
              </a:ext>
            </a:extLst>
          </p:cNvPr>
          <p:cNvSpPr txBox="1"/>
          <p:nvPr userDrawn="1"/>
        </p:nvSpPr>
        <p:spPr>
          <a:xfrm>
            <a:off x="11420475" y="92075"/>
            <a:ext cx="614363" cy="534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1585" b="1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Helvetica Neue" panose="02000503000000020004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endParaRPr sz="3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CD452D2-32EA-ADC0-5303-723EDC7B12D1}"/>
              </a:ext>
            </a:extLst>
          </p:cNvPr>
          <p:cNvSpPr txBox="1"/>
          <p:nvPr userDrawn="1"/>
        </p:nvSpPr>
        <p:spPr>
          <a:xfrm>
            <a:off x="11442700" y="161925"/>
            <a:ext cx="569913" cy="36988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5842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1pPr>
            <a:lvl2pPr indent="228600" defTabSz="5842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2pPr>
            <a:lvl3pPr indent="457200" defTabSz="5842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3pPr>
            <a:lvl4pPr indent="685800" defTabSz="5842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4pPr>
            <a:lvl5pPr indent="914400" defTabSz="584200"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5pPr>
            <a:lvl6pPr marL="457200" indent="914400" defTabSz="584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6pPr>
            <a:lvl7pPr marL="914400" indent="914400" defTabSz="584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7pPr>
            <a:lvl8pPr marL="1371600" indent="914400" defTabSz="584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8pPr>
            <a:lvl9pPr marL="1828800" indent="914400" defTabSz="584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汉仪旗黑-55简" charset="-122"/>
                <a:ea typeface="汉仪旗黑-55简" charset="-122"/>
              </a:defRPr>
            </a:lvl9pPr>
          </a:lstStyle>
          <a:p>
            <a:pPr algn="ctr" eaLnBrk="1">
              <a:defRPr/>
            </a:pPr>
            <a:fld id="{BE4D6136-AF9F-4F6D-A198-C4EC57AA8B00}" type="slidenum">
              <a:rPr lang="zh-CN" altLang="en-US" sz="24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Helvetica Neue Light"/>
              </a:rPr>
              <a:pPr algn="ctr" eaLnBrk="1">
                <a:defRPr/>
              </a:pPr>
              <a:t>‹#›</a:t>
            </a:fld>
            <a:endParaRPr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Helvetica Neue Light"/>
            </a:endParaRPr>
          </a:p>
        </p:txBody>
      </p:sp>
      <p:cxnSp>
        <p:nvCxnSpPr>
          <p:cNvPr id="5" name="直接连接符 9">
            <a:extLst>
              <a:ext uri="{FF2B5EF4-FFF2-40B4-BE49-F238E27FC236}">
                <a16:creationId xmlns:a16="http://schemas.microsoft.com/office/drawing/2014/main" id="{C9922526-7569-853F-D07F-4BBAB8138A95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-11113" y="655638"/>
            <a:ext cx="12203113" cy="0"/>
          </a:xfrm>
          <a:prstGeom prst="line">
            <a:avLst/>
          </a:prstGeom>
          <a:noFill/>
          <a:ln w="952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组合 10">
            <a:extLst>
              <a:ext uri="{FF2B5EF4-FFF2-40B4-BE49-F238E27FC236}">
                <a16:creationId xmlns:a16="http://schemas.microsoft.com/office/drawing/2014/main" id="{AB888098-2B52-C72E-619F-14C94482415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5275" y="188913"/>
            <a:ext cx="412750" cy="303212"/>
            <a:chOff x="316737" y="448050"/>
            <a:chExt cx="236308" cy="231862"/>
          </a:xfrm>
        </p:grpSpPr>
        <p:sp>
          <p:nvSpPr>
            <p:cNvPr id="7" name="圆角矩形 13">
              <a:extLst>
                <a:ext uri="{FF2B5EF4-FFF2-40B4-BE49-F238E27FC236}">
                  <a16:creationId xmlns:a16="http://schemas.microsoft.com/office/drawing/2014/main" id="{687D0B1A-AA70-611D-3B47-DC144419FC18}"/>
                </a:ext>
              </a:extLst>
            </p:cNvPr>
            <p:cNvSpPr/>
            <p:nvPr userDrawn="1"/>
          </p:nvSpPr>
          <p:spPr>
            <a:xfrm>
              <a:off x="316737" y="448050"/>
              <a:ext cx="149056" cy="149314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defTabSz="36131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71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圆角矩形 14">
              <a:extLst>
                <a:ext uri="{FF2B5EF4-FFF2-40B4-BE49-F238E27FC236}">
                  <a16:creationId xmlns:a16="http://schemas.microsoft.com/office/drawing/2014/main" id="{95A97F8A-925B-DCF6-F1FD-C1BA3564EBD9}"/>
                </a:ext>
              </a:extLst>
            </p:cNvPr>
            <p:cNvSpPr/>
            <p:nvPr userDrawn="1"/>
          </p:nvSpPr>
          <p:spPr>
            <a:xfrm>
              <a:off x="386721" y="513603"/>
              <a:ext cx="166324" cy="166309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anchor="ctr"/>
            <a:lstStyle/>
            <a:p>
              <a:pPr defTabSz="36131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71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1095580" y="178699"/>
            <a:ext cx="2627642" cy="335926"/>
          </a:xfrm>
        </p:spPr>
        <p:txBody>
          <a:bodyPr wrap="none">
            <a:spAutoFit/>
          </a:bodyPr>
          <a:lstStyle>
            <a:lvl1pPr algn="ctr">
              <a:defRPr kumimoji="0" lang="zh-CN" altLang="en-US" sz="1585" b="1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Helvetica Neue" panose="02000503000000020004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1261392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6E675B-C540-06A8-F656-8C33173A5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53922-A337-472E-AEB4-B439F0D23FE3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E01A18-EEE5-46B7-A2F4-56E1E0DA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2F01E3-709C-C30F-12D6-2759CEC8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1214C-58D7-49D0-8DE3-6CE40668CB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3229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2492A10-6692-14C5-FD61-A1D08BD69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1A30CCFB-D017-A051-2C0A-D0A6FB0F4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095378-8019-514B-67F1-67DADA22B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5B95C3A-14CF-4057-9CAA-C13707F41DFB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7D8045-D76D-6299-7C86-934969029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B6A307-5AC1-38BB-B29D-8EEA88DE51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汉仪旗黑-55简" charset="-122"/>
                <a:ea typeface="汉仪旗黑-55简" charset="-122"/>
                <a:cs typeface="+mn-cs"/>
              </a:defRPr>
            </a:lvl1pPr>
          </a:lstStyle>
          <a:p>
            <a:pPr>
              <a:defRPr/>
            </a:pPr>
            <a:fld id="{DC318AFA-4A31-4600-A445-C3DAB48037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6" r:id="rId1"/>
    <p:sldLayoutId id="2147484307" r:id="rId2"/>
    <p:sldLayoutId id="2147484308" r:id="rId3"/>
    <p:sldLayoutId id="2147484290" r:id="rId4"/>
    <p:sldLayoutId id="2147484291" r:id="rId5"/>
    <p:sldLayoutId id="2147484292" r:id="rId6"/>
    <p:sldLayoutId id="2147484309" r:id="rId7"/>
    <p:sldLayoutId id="2147484293" r:id="rId8"/>
    <p:sldLayoutId id="2147484294" r:id="rId9"/>
    <p:sldLayoutId id="2147484295" r:id="rId10"/>
    <p:sldLayoutId id="2147484296" r:id="rId11"/>
    <p:sldLayoutId id="2147484310" r:id="rId12"/>
    <p:sldLayoutId id="2147484311" r:id="rId13"/>
    <p:sldLayoutId id="2147484297" r:id="rId14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汉仪旗黑-55简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  <a:cs typeface="汉仪旗黑-55简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  <a:cs typeface="汉仪旗黑-55简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  <a:cs typeface="汉仪旗黑-55简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  <a:cs typeface="汉仪旗黑-55简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汉仪旗黑-55简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汉仪旗黑-55简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汉仪旗黑-55简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汉仪旗黑-55简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汉仪旗黑-55简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56D972F7-81BE-5174-D961-9009FA581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CED9523C-EF16-F0E8-D8D9-190C4878E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298E2D-BB74-146C-8E0E-E9C9787E8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C3EF760-A861-4F1E-BE88-25859F66C0B6}" type="datetimeFigureOut">
              <a:rPr lang="zh-CN" altLang="en-US"/>
              <a:pPr>
                <a:defRPr/>
              </a:pPr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4D789-803B-5ADC-5286-A081FDEDA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CC79D4-975F-4E94-32C7-93A6E2E9C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汉仪旗黑-55简" charset="-122"/>
                <a:ea typeface="汉仪旗黑-55简" charset="-122"/>
                <a:cs typeface="+mn-cs"/>
              </a:defRPr>
            </a:lvl1pPr>
          </a:lstStyle>
          <a:p>
            <a:pPr>
              <a:defRPr/>
            </a:pPr>
            <a:fld id="{36ED70F7-32BF-40C3-982E-683689ED86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298" r:id="rId4"/>
    <p:sldLayoutId id="2147484299" r:id="rId5"/>
    <p:sldLayoutId id="2147484300" r:id="rId6"/>
    <p:sldLayoutId id="2147484315" r:id="rId7"/>
    <p:sldLayoutId id="2147484301" r:id="rId8"/>
    <p:sldLayoutId id="2147484302" r:id="rId9"/>
    <p:sldLayoutId id="2147484303" r:id="rId10"/>
    <p:sldLayoutId id="2147484304" r:id="rId11"/>
    <p:sldLayoutId id="2147484316" r:id="rId12"/>
    <p:sldLayoutId id="2147484317" r:id="rId13"/>
    <p:sldLayoutId id="2147484305" r:id="rId14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汉仪旗黑-55简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  <a:cs typeface="汉仪旗黑-55简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  <a:cs typeface="汉仪旗黑-55简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  <a:cs typeface="汉仪旗黑-55简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  <a:cs typeface="汉仪旗黑-55简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汉仪旗黑-55简" charset="-122"/>
          <a:ea typeface="汉仪旗黑-55简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汉仪旗黑-55简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汉仪旗黑-55简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汉仪旗黑-55简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汉仪旗黑-55简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汉仪旗黑-55简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F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18872" cy="53949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73152" cy="5394960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7863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D7F2"/>
                </a:solidFill>
                <a:latin typeface="Aptos"/>
              </a:rPr>
              <a:t>MID-TERM DEFENSE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353312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微软雅黑"/>
              </a:rPr>
              <a:t>面向地理空间多工具 Agent
的经验自进化与协议自进化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79776"/>
            <a:ext cx="8869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7E5F2"/>
                </a:solidFill>
                <a:latin typeface="Aptos"/>
              </a:rPr>
              <a:t>ExperienceEvo · Boundary · PromptEvo · Agentic 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3675887"/>
            <a:ext cx="9921240" cy="978408"/>
          </a:xfrm>
          <a:prstGeom prst="roundRect">
            <a:avLst/>
          </a:prstGeom>
          <a:solidFill>
            <a:srgbClr val="3A558C"/>
          </a:solidFill>
          <a:ln w="11430">
            <a:solidFill>
              <a:srgbClr val="6F9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941063"/>
            <a:ext cx="9418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让 Agent 不仅记住“做过什么”，还知道“当前产物状态下何时可以复用，何时必须重新决策”。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15391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8D7F2"/>
                </a:solidFill>
                <a:latin typeface="Aptos"/>
              </a:rPr>
              <a:t>Terrabox · Geospatial AI Agent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6768" y="6153912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8D7F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F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841248"/>
            <a:ext cx="146304" cy="51663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78638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D7F2"/>
                </a:solidFill>
                <a:latin typeface="Aptos"/>
              </a:rPr>
              <a:t>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7043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487168"/>
            <a:ext cx="9601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问题与总体框架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10128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7E5F2"/>
                </a:solidFill>
                <a:latin typeface="微软雅黑"/>
              </a:rPr>
              <a:t>从“工具能否执行”推进到“产物是否被正确理解和消费”。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4663440"/>
            <a:ext cx="9738360" cy="0"/>
          </a:xfrm>
          <a:prstGeom prst="line">
            <a:avLst/>
          </a:prstGeom>
          <a:ln w="15240">
            <a:solidFill>
              <a:srgbClr val="669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4846320"/>
            <a:ext cx="9326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D7F2"/>
                </a:solidFill>
                <a:latin typeface="Aptos"/>
              </a:rPr>
              <a:t>ExperienceEvo · PromptEvo · Boundary · Agentic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14476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8D7F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 ·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工具成功，不等于任务语义正确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错误往往发生在产物绑定与依赖传播层，而不是 API 是否返回 success。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Terrabox · ExperienceEvo / PromptEvo · 中期答辩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984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典型地理空间任务链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682496"/>
            <a:ext cx="2148840" cy="1115568"/>
          </a:xfrm>
          <a:prstGeom prst="roundRect">
            <a:avLst/>
          </a:prstGeom>
          <a:solidFill>
            <a:srgbClr val="EBF1FA"/>
          </a:solidFill>
          <a:ln w="1778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801368"/>
            <a:ext cx="19293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灾后影像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21408"/>
            <a:ext cx="19293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raster artifact
time = post</a:t>
            </a:r>
          </a:p>
        </p:txBody>
      </p:sp>
      <p:sp>
        <p:nvSpPr>
          <p:cNvPr id="16" name="Chevron 15"/>
          <p:cNvSpPr/>
          <p:nvPr/>
        </p:nvSpPr>
        <p:spPr>
          <a:xfrm>
            <a:off x="2916936" y="2103120"/>
            <a:ext cx="164592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36391" y="1682496"/>
            <a:ext cx="2148840" cy="1115568"/>
          </a:xfrm>
          <a:prstGeom prst="roundRect">
            <a:avLst/>
          </a:prstGeom>
          <a:solidFill>
            <a:srgbClr val="FDEAD7"/>
          </a:solidFill>
          <a:ln w="1778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801368"/>
            <a:ext cx="19293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建筑分割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121408"/>
            <a:ext cx="19293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tool call
input image</a:t>
            </a:r>
          </a:p>
        </p:txBody>
      </p:sp>
      <p:sp>
        <p:nvSpPr>
          <p:cNvPr id="20" name="Chevron 19"/>
          <p:cNvSpPr/>
          <p:nvPr/>
        </p:nvSpPr>
        <p:spPr>
          <a:xfrm>
            <a:off x="5340095" y="2103120"/>
            <a:ext cx="164592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59552" y="1682496"/>
            <a:ext cx="2148840" cy="1115568"/>
          </a:xfrm>
          <a:prstGeom prst="roundRect">
            <a:avLst/>
          </a:prstGeom>
          <a:solidFill>
            <a:srgbClr val="E2F0D9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1801368"/>
            <a:ext cx="19293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建筑 mask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121408"/>
            <a:ext cx="19293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derived artifact
source trace</a:t>
            </a:r>
          </a:p>
        </p:txBody>
      </p:sp>
      <p:sp>
        <p:nvSpPr>
          <p:cNvPr id="24" name="Chevron 23"/>
          <p:cNvSpPr/>
          <p:nvPr/>
        </p:nvSpPr>
        <p:spPr>
          <a:xfrm>
            <a:off x="7763256" y="2103120"/>
            <a:ext cx="164592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82711" y="1682496"/>
            <a:ext cx="2148840" cy="1115568"/>
          </a:xfrm>
          <a:prstGeom prst="roundRect">
            <a:avLst/>
          </a:prstGeom>
          <a:solidFill>
            <a:srgbClr val="F0E8F7"/>
          </a:solidFill>
          <a:ln w="1778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39" y="1801368"/>
            <a:ext cx="19293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变化分析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39" y="2121408"/>
            <a:ext cx="19293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downstream use
area / difference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154680"/>
            <a:ext cx="3429000" cy="1417320"/>
          </a:xfrm>
          <a:prstGeom prst="roundRect">
            <a:avLst/>
          </a:prstGeom>
          <a:solidFill>
            <a:srgbClr val="EBF1FA"/>
          </a:solidFill>
          <a:ln w="1397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36499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AB6"/>
                </a:solidFill>
                <a:latin typeface="微软雅黑"/>
              </a:rPr>
              <a:t>API / 执行层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70332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2A3A"/>
                </a:solidFill>
                <a:latin typeface="微软雅黑"/>
              </a:rPr>
              <a:t>工具是否执行成功？
通常可以直接观察。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3154680"/>
            <a:ext cx="3429000" cy="1417320"/>
          </a:xfrm>
          <a:prstGeom prst="roundRect">
            <a:avLst/>
          </a:prstGeom>
          <a:solidFill>
            <a:srgbClr val="FFF2CC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336499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D7D31"/>
                </a:solidFill>
                <a:latin typeface="微软雅黑"/>
              </a:rPr>
              <a:t>产物依赖层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370332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2A3A"/>
                </a:solidFill>
                <a:latin typeface="微软雅黑"/>
              </a:rPr>
              <a:t>文件、图层、时间、单位、CRS
是否绑定到正确产物？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3" y="3154680"/>
            <a:ext cx="3429000" cy="1417320"/>
          </a:xfrm>
          <a:prstGeom prst="roundRect">
            <a:avLst/>
          </a:prstGeom>
          <a:solidFill>
            <a:srgbClr val="F0E8F7"/>
          </a:solidFill>
          <a:ln w="1397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36499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03FA0"/>
                </a:solidFill>
                <a:latin typeface="微软雅黑"/>
              </a:rPr>
              <a:t>任务语义层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70332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02A3A"/>
                </a:solidFill>
                <a:latin typeface="微软雅黑"/>
              </a:rPr>
              <a:t>输出是否满足当前任务
以及后续分析的语义约束？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047488"/>
            <a:ext cx="105613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4F89"/>
                </a:solidFill>
                <a:latin typeface="微软雅黑"/>
              </a:rPr>
              <a:t>研究问题：如何从真实 rollout 中积累可复用经验，并让 Agent 判断经验在当前 artifact state 下是否适用？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 · 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近期方法图谱：记忆、经验效用与信用分配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各方向已有进展，但地理空间 provenance 与经验边界仍未被统一建模。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Related work: GiGPO · Memory-R1 · MemRL · GACA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44752"/>
            <a:ext cx="2542032" cy="3090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" y="1618488"/>
            <a:ext cx="621792" cy="256032"/>
          </a:xfrm>
          <a:prstGeom prst="roundRect">
            <a:avLst/>
          </a:prstGeom>
          <a:solidFill>
            <a:srgbClr val="703FA0"/>
          </a:solidFill>
          <a:ln w="381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1627632"/>
            <a:ext cx="5852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0025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4F89"/>
                </a:solidFill>
                <a:latin typeface="Aptos"/>
              </a:rPr>
              <a:t>GiGPO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2542032"/>
            <a:ext cx="658368" cy="347472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703FA0"/>
                </a:solidFill>
                <a:latin typeface="微软雅黑"/>
              </a:rPr>
              <a:t>rollout</a:t>
            </a:r>
          </a:p>
        </p:txBody>
      </p:sp>
      <p:sp>
        <p:nvSpPr>
          <p:cNvPr id="18" name="Chevron 17"/>
          <p:cNvSpPr/>
          <p:nvPr/>
        </p:nvSpPr>
        <p:spPr>
          <a:xfrm>
            <a:off x="1499616" y="2633472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27631" y="2542032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6775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5AB6"/>
                </a:solidFill>
                <a:latin typeface="微软雅黑"/>
              </a:rPr>
              <a:t>same state</a:t>
            </a:r>
          </a:p>
        </p:txBody>
      </p:sp>
      <p:sp>
        <p:nvSpPr>
          <p:cNvPr id="21" name="Chevron 20"/>
          <p:cNvSpPr/>
          <p:nvPr/>
        </p:nvSpPr>
        <p:spPr>
          <a:xfrm>
            <a:off x="2304288" y="2633472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32304" y="2542032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41448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F4F89"/>
                </a:solidFill>
                <a:latin typeface="微软雅黑"/>
              </a:rPr>
              <a:t>local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13639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03FA0"/>
                </a:solidFill>
                <a:latin typeface="微软雅黑"/>
              </a:rPr>
              <a:t>核心机制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41071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87280"/>
                </a:solidFill>
                <a:latin typeface="微软雅黑"/>
              </a:rPr>
              <a:t>step credit
但无 provenance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59" y="4023360"/>
            <a:ext cx="2139697" cy="0"/>
          </a:xfrm>
          <a:prstGeom prst="line">
            <a:avLst/>
          </a:prstGeom>
          <a:ln w="889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59" y="411480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0000"/>
                </a:solidFill>
                <a:latin typeface="微软雅黑"/>
              </a:rPr>
              <a:t>我们的切入点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352544"/>
            <a:ext cx="2148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C00000"/>
                </a:solidFill>
                <a:latin typeface="微软雅黑"/>
              </a:rPr>
              <a:t>artifact source / semantic binding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11296" y="1444752"/>
            <a:ext cx="2542032" cy="3090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66744" y="1618488"/>
            <a:ext cx="621792" cy="256032"/>
          </a:xfrm>
          <a:prstGeom prst="roundRect">
            <a:avLst/>
          </a:prstGeom>
          <a:solidFill>
            <a:srgbClr val="ED7D31"/>
          </a:solidFill>
          <a:ln w="381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5031" y="1627632"/>
            <a:ext cx="5852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6744" y="20025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4F89"/>
                </a:solidFill>
                <a:latin typeface="Aptos"/>
              </a:rPr>
              <a:t>Memory-R1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75887" y="2542032"/>
            <a:ext cx="658368" cy="347472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85031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ED7D31"/>
                </a:solidFill>
                <a:latin typeface="微软雅黑"/>
              </a:rPr>
              <a:t>trajectory</a:t>
            </a:r>
          </a:p>
        </p:txBody>
      </p:sp>
      <p:sp>
        <p:nvSpPr>
          <p:cNvPr id="35" name="Chevron 34"/>
          <p:cNvSpPr/>
          <p:nvPr/>
        </p:nvSpPr>
        <p:spPr>
          <a:xfrm>
            <a:off x="4352543" y="2633472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80559" y="2542032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9703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5AB6"/>
                </a:solidFill>
                <a:latin typeface="微软雅黑"/>
              </a:rPr>
              <a:t>memory op</a:t>
            </a:r>
          </a:p>
        </p:txBody>
      </p:sp>
      <p:sp>
        <p:nvSpPr>
          <p:cNvPr id="38" name="Chevron 37"/>
          <p:cNvSpPr/>
          <p:nvPr/>
        </p:nvSpPr>
        <p:spPr>
          <a:xfrm>
            <a:off x="5157215" y="2633472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285231" y="2542032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94375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F4F89"/>
                </a:solidFill>
                <a:latin typeface="微软雅黑"/>
              </a:rPr>
              <a:t>RL 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75887" y="313639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D7D31"/>
                </a:solidFill>
                <a:latin typeface="微软雅黑"/>
              </a:rPr>
              <a:t>核心机制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5887" y="341071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87280"/>
                </a:solidFill>
                <a:latin typeface="微软雅黑"/>
              </a:rPr>
              <a:t>学记忆管理
非长链工具责任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675887" y="4023360"/>
            <a:ext cx="2139696" cy="0"/>
          </a:xfrm>
          <a:prstGeom prst="line">
            <a:avLst/>
          </a:prstGeom>
          <a:ln w="889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75887" y="411480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0000"/>
                </a:solidFill>
                <a:latin typeface="微软雅黑"/>
              </a:rPr>
              <a:t>我们的切入点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75887" y="4352544"/>
            <a:ext cx="2148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C00000"/>
                </a:solidFill>
                <a:latin typeface="微软雅黑"/>
              </a:rPr>
              <a:t>artifact source / semantic binding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64224" y="1444752"/>
            <a:ext cx="2542032" cy="3090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19672" y="1618488"/>
            <a:ext cx="621792" cy="256032"/>
          </a:xfrm>
          <a:prstGeom prst="roundRect">
            <a:avLst/>
          </a:prstGeom>
          <a:solidFill>
            <a:srgbClr val="008C95"/>
          </a:solidFill>
          <a:ln w="381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59" y="1627632"/>
            <a:ext cx="5852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9672" y="20025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4F89"/>
                </a:solidFill>
                <a:latin typeface="Aptos"/>
              </a:rPr>
              <a:t>MemRL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28816" y="2542032"/>
            <a:ext cx="658368" cy="347472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59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8C95"/>
                </a:solidFill>
                <a:latin typeface="微软雅黑"/>
              </a:rPr>
              <a:t>query</a:t>
            </a:r>
          </a:p>
        </p:txBody>
      </p:sp>
      <p:sp>
        <p:nvSpPr>
          <p:cNvPr id="52" name="Chevron 51"/>
          <p:cNvSpPr/>
          <p:nvPr/>
        </p:nvSpPr>
        <p:spPr>
          <a:xfrm>
            <a:off x="7205471" y="2633472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33488" y="2542032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42631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5AB6"/>
                </a:solidFill>
                <a:latin typeface="微软雅黑"/>
              </a:rPr>
              <a:t>Q utility</a:t>
            </a:r>
          </a:p>
        </p:txBody>
      </p:sp>
      <p:sp>
        <p:nvSpPr>
          <p:cNvPr id="55" name="Chevron 54"/>
          <p:cNvSpPr/>
          <p:nvPr/>
        </p:nvSpPr>
        <p:spPr>
          <a:xfrm>
            <a:off x="8010144" y="2633472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138160" y="2542032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47304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F4F89"/>
                </a:solidFill>
                <a:latin typeface="微软雅黑"/>
              </a:rPr>
              <a:t>retrieve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8816" y="313639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8C95"/>
                </a:solidFill>
                <a:latin typeface="微软雅黑"/>
              </a:rPr>
              <a:t>核心机制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8816" y="341071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87280"/>
                </a:solidFill>
                <a:latin typeface="微软雅黑"/>
              </a:rPr>
              <a:t>学检索效用
边界仍隐式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528816" y="4023360"/>
            <a:ext cx="2139696" cy="0"/>
          </a:xfrm>
          <a:prstGeom prst="line">
            <a:avLst/>
          </a:prstGeom>
          <a:ln w="889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528816" y="411480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0000"/>
                </a:solidFill>
                <a:latin typeface="微软雅黑"/>
              </a:rPr>
              <a:t>我们的切入点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8816" y="4352544"/>
            <a:ext cx="2148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C00000"/>
                </a:solidFill>
                <a:latin typeface="微软雅黑"/>
              </a:rPr>
              <a:t>artifact source / semantic binding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17152" y="1444752"/>
            <a:ext cx="2542032" cy="3090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372600" y="1618488"/>
            <a:ext cx="621792" cy="256032"/>
          </a:xfrm>
          <a:prstGeom prst="roundRect">
            <a:avLst/>
          </a:prstGeom>
          <a:solidFill>
            <a:srgbClr val="70AD47"/>
          </a:solidFill>
          <a:ln w="381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90888" y="1627632"/>
            <a:ext cx="5852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72600" y="20025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4F89"/>
                </a:solidFill>
                <a:latin typeface="Aptos"/>
              </a:rPr>
              <a:t>GACA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381744" y="2542032"/>
            <a:ext cx="658368" cy="347472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90888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70AD47"/>
                </a:solidFill>
                <a:latin typeface="微软雅黑"/>
              </a:rPr>
              <a:t>long horizon</a:t>
            </a:r>
          </a:p>
        </p:txBody>
      </p:sp>
      <p:sp>
        <p:nvSpPr>
          <p:cNvPr id="69" name="Chevron 68"/>
          <p:cNvSpPr/>
          <p:nvPr/>
        </p:nvSpPr>
        <p:spPr>
          <a:xfrm>
            <a:off x="10058400" y="2633472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186416" y="2542032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95560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5AB6"/>
                </a:solidFill>
                <a:latin typeface="微软雅黑"/>
              </a:rPr>
              <a:t>granularity</a:t>
            </a:r>
          </a:p>
        </p:txBody>
      </p:sp>
      <p:sp>
        <p:nvSpPr>
          <p:cNvPr id="72" name="Chevron 71"/>
          <p:cNvSpPr/>
          <p:nvPr/>
        </p:nvSpPr>
        <p:spPr>
          <a:xfrm>
            <a:off x="10863072" y="2633472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91088" y="2542032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000232" y="25603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F4F89"/>
                </a:solidFill>
                <a:latin typeface="微软雅黑"/>
              </a:rPr>
              <a:t>mixed 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81744" y="313639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0AD47"/>
                </a:solidFill>
                <a:latin typeface="微软雅黑"/>
              </a:rPr>
              <a:t>核心机制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81744" y="341071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87280"/>
                </a:solidFill>
                <a:latin typeface="微软雅黑"/>
              </a:rPr>
              <a:t>信用粒度自适应
不含产物语义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381744" y="4023360"/>
            <a:ext cx="2139696" cy="0"/>
          </a:xfrm>
          <a:prstGeom prst="line">
            <a:avLst/>
          </a:prstGeom>
          <a:ln w="889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381744" y="411480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0000"/>
                </a:solidFill>
                <a:latin typeface="微软雅黑"/>
              </a:rPr>
              <a:t>我们的切入点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81744" y="4352544"/>
            <a:ext cx="2148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C00000"/>
                </a:solidFill>
                <a:latin typeface="微软雅黑"/>
              </a:rPr>
              <a:t>artifact source / semantic binding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13232" y="4846320"/>
            <a:ext cx="10716768" cy="832104"/>
          </a:xfrm>
          <a:prstGeom prst="roundRect">
            <a:avLst/>
          </a:prstGeom>
          <a:solidFill>
            <a:srgbClr val="EBF1FA"/>
          </a:solidFill>
          <a:ln w="1270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2688" y="5047488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4F89"/>
                </a:solidFill>
                <a:latin typeface="微软雅黑"/>
              </a:rPr>
              <a:t>Research gap  →  近期工作分别学习“存什么 / 取什么 / 如何分配 credit”，本项目把产物来源、经验适用边界和真实工具验证放进同一闭环。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5870448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1">
                <a:solidFill>
                  <a:srgbClr val="687280"/>
                </a:solidFill>
                <a:latin typeface="微软雅黑"/>
              </a:rPr>
              <a:t>论文：GiGPO (2025) · Memory-R1 (2025) · MemRL (2026) · GACA (2026)；均为相关机制定位，不等同于同一 OEA benchmark 的官方结果。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总体技术路线：两类自进化对象，统一在真实工具 harness 中验证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动态经验与静态协议互补；Boundary 约束复用边界；RL 负责将约束内化到策略。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Terrabox · ExperienceEvo / PromptEvo · 中期答辩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1344168"/>
            <a:ext cx="10771632" cy="603504"/>
          </a:xfrm>
          <a:prstGeom prst="roundRect">
            <a:avLst/>
          </a:prstGeom>
          <a:solidFill>
            <a:srgbClr val="2F4F89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17904"/>
            <a:ext cx="10314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真实 geospatial Agent harness：user task → tool call → artifact observation → next decision → final answer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2331720"/>
            <a:ext cx="3429000" cy="2962656"/>
          </a:xfrm>
          <a:prstGeom prst="roundRect">
            <a:avLst/>
          </a:prstGeom>
          <a:solidFill>
            <a:srgbClr val="EBF1FA"/>
          </a:solidFill>
          <a:ln w="152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" y="2532888"/>
            <a:ext cx="1389888" cy="256032"/>
          </a:xfrm>
          <a:prstGeom prst="roundRect">
            <a:avLst/>
          </a:prstGeom>
          <a:solidFill>
            <a:srgbClr val="008C95"/>
          </a:solidFill>
          <a:ln w="381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542032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ExperienceEvo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926080"/>
            <a:ext cx="28529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4F89"/>
                </a:solidFill>
                <a:latin typeface="微软雅黑"/>
              </a:rPr>
              <a:t>动态、状态相关经验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456432"/>
            <a:ext cx="585216" cy="310896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08C95"/>
                </a:solidFill>
                <a:latin typeface="微软雅黑"/>
              </a:rPr>
              <a:t>artifact</a:t>
            </a:r>
          </a:p>
        </p:txBody>
      </p:sp>
      <p:sp>
        <p:nvSpPr>
          <p:cNvPr id="20" name="Chevron 19"/>
          <p:cNvSpPr/>
          <p:nvPr/>
        </p:nvSpPr>
        <p:spPr>
          <a:xfrm>
            <a:off x="1536192" y="3547872"/>
            <a:ext cx="73151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27632" y="3456432"/>
            <a:ext cx="58521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36776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05AB6"/>
                </a:solidFill>
                <a:latin typeface="微软雅黑"/>
              </a:rPr>
              <a:t>retrieve</a:t>
            </a:r>
          </a:p>
        </p:txBody>
      </p:sp>
      <p:sp>
        <p:nvSpPr>
          <p:cNvPr id="23" name="Chevron 22"/>
          <p:cNvSpPr/>
          <p:nvPr/>
        </p:nvSpPr>
        <p:spPr>
          <a:xfrm>
            <a:off x="2231136" y="3547872"/>
            <a:ext cx="73151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22576" y="3456432"/>
            <a:ext cx="58521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ED7D31"/>
                </a:solidFill>
                <a:latin typeface="微软雅黑"/>
              </a:rPr>
              <a:t>guide</a:t>
            </a:r>
          </a:p>
        </p:txBody>
      </p:sp>
      <p:sp>
        <p:nvSpPr>
          <p:cNvPr id="26" name="Chevron 25"/>
          <p:cNvSpPr/>
          <p:nvPr/>
        </p:nvSpPr>
        <p:spPr>
          <a:xfrm>
            <a:off x="2926080" y="3547872"/>
            <a:ext cx="73151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017520" y="3456432"/>
            <a:ext cx="58521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26664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703FA0"/>
                </a:solidFill>
                <a:latin typeface="微软雅黑"/>
              </a:rPr>
              <a:t>verify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" y="418795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09651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2A3A"/>
                </a:solidFill>
                <a:latin typeface="微软雅黑"/>
              </a:rPr>
              <a:t>v4-clean：已完成</a:t>
            </a:r>
          </a:p>
        </p:txBody>
      </p:sp>
      <p:sp>
        <p:nvSpPr>
          <p:cNvPr id="31" name="Oval 30"/>
          <p:cNvSpPr/>
          <p:nvPr/>
        </p:nvSpPr>
        <p:spPr>
          <a:xfrm>
            <a:off x="932688" y="4517136"/>
            <a:ext cx="100584" cy="10058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425696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2A3A"/>
                </a:solidFill>
                <a:latin typeface="微软雅黑"/>
              </a:rPr>
              <a:t>Boundary：规则冻结，评测中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9976" y="2331720"/>
            <a:ext cx="3429000" cy="2962656"/>
          </a:xfrm>
          <a:prstGeom prst="roundRect">
            <a:avLst/>
          </a:prstGeom>
          <a:solidFill>
            <a:srgbClr val="FDEAD7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17720" y="2532888"/>
            <a:ext cx="1133856" cy="256032"/>
          </a:xfrm>
          <a:prstGeom prst="roundRect">
            <a:avLst/>
          </a:prstGeom>
          <a:solidFill>
            <a:srgbClr val="ED7D31"/>
          </a:solidFill>
          <a:ln w="381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7" y="2542032"/>
            <a:ext cx="1097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PromptEvo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2926080"/>
            <a:ext cx="28529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4F89"/>
                </a:solidFill>
                <a:latin typeface="微软雅黑"/>
              </a:rPr>
              <a:t>静态、任务无关协议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7720" y="3456432"/>
            <a:ext cx="585216" cy="310896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6864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ED7D31"/>
                </a:solidFill>
                <a:latin typeface="微软雅黑"/>
              </a:rPr>
              <a:t>failure</a:t>
            </a:r>
          </a:p>
        </p:txBody>
      </p:sp>
      <p:sp>
        <p:nvSpPr>
          <p:cNvPr id="39" name="Chevron 38"/>
          <p:cNvSpPr/>
          <p:nvPr/>
        </p:nvSpPr>
        <p:spPr>
          <a:xfrm>
            <a:off x="5221223" y="3547872"/>
            <a:ext cx="73151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12664" y="3456432"/>
            <a:ext cx="58521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21807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703FA0"/>
                </a:solidFill>
                <a:latin typeface="微软雅黑"/>
              </a:rPr>
              <a:t>typed patch</a:t>
            </a:r>
          </a:p>
        </p:txBody>
      </p:sp>
      <p:sp>
        <p:nvSpPr>
          <p:cNvPr id="42" name="Chevron 41"/>
          <p:cNvSpPr/>
          <p:nvPr/>
        </p:nvSpPr>
        <p:spPr>
          <a:xfrm>
            <a:off x="5916167" y="3547872"/>
            <a:ext cx="73151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07608" y="3456432"/>
            <a:ext cx="58521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5AB6"/>
                </a:solidFill>
                <a:latin typeface="微软雅黑"/>
              </a:rPr>
              <a:t>compile</a:t>
            </a:r>
          </a:p>
        </p:txBody>
      </p:sp>
      <p:sp>
        <p:nvSpPr>
          <p:cNvPr id="45" name="Chevron 44"/>
          <p:cNvSpPr/>
          <p:nvPr/>
        </p:nvSpPr>
        <p:spPr>
          <a:xfrm>
            <a:off x="6611112" y="3547872"/>
            <a:ext cx="73151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702552" y="3456432"/>
            <a:ext cx="58521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70AD47"/>
                </a:solidFill>
                <a:latin typeface="微软雅黑"/>
              </a:rPr>
              <a:t>gate</a:t>
            </a:r>
          </a:p>
        </p:txBody>
      </p:sp>
      <p:sp>
        <p:nvSpPr>
          <p:cNvPr id="48" name="Oval 47"/>
          <p:cNvSpPr/>
          <p:nvPr/>
        </p:nvSpPr>
        <p:spPr>
          <a:xfrm>
            <a:off x="4617720" y="418795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409651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2A3A"/>
                </a:solidFill>
                <a:latin typeface="微软雅黑"/>
              </a:rPr>
              <a:t>Stage1/Stage2：已有对照</a:t>
            </a:r>
          </a:p>
        </p:txBody>
      </p:sp>
      <p:sp>
        <p:nvSpPr>
          <p:cNvPr id="50" name="Oval 49"/>
          <p:cNvSpPr/>
          <p:nvPr/>
        </p:nvSpPr>
        <p:spPr>
          <a:xfrm>
            <a:off x="4617720" y="45171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0600" y="4425696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2A3A"/>
                </a:solidFill>
                <a:latin typeface="微软雅黑"/>
              </a:rPr>
              <a:t>gate / rollback：必需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65008" y="2331720"/>
            <a:ext cx="3401568" cy="2962656"/>
          </a:xfrm>
          <a:prstGeom prst="roundRect">
            <a:avLst/>
          </a:prstGeom>
          <a:solidFill>
            <a:srgbClr val="F0E8F7"/>
          </a:solidFill>
          <a:ln w="1524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302752" y="2532888"/>
            <a:ext cx="1417320" cy="256032"/>
          </a:xfrm>
          <a:prstGeom prst="roundRect">
            <a:avLst/>
          </a:prstGeom>
          <a:solidFill>
            <a:srgbClr val="703FA0"/>
          </a:solidFill>
          <a:ln w="381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2542032"/>
            <a:ext cx="13807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Agentic RL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2" y="2926080"/>
            <a:ext cx="28529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4F89"/>
                </a:solidFill>
                <a:latin typeface="微软雅黑"/>
              </a:rPr>
              <a:t>把 provenance 内化进策略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02752" y="3456432"/>
            <a:ext cx="585216" cy="310896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11896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2F4F89"/>
                </a:solidFill>
                <a:latin typeface="微软雅黑"/>
              </a:rPr>
              <a:t>episode A</a:t>
            </a:r>
          </a:p>
        </p:txBody>
      </p:sp>
      <p:sp>
        <p:nvSpPr>
          <p:cNvPr id="58" name="Chevron 57"/>
          <p:cNvSpPr/>
          <p:nvPr/>
        </p:nvSpPr>
        <p:spPr>
          <a:xfrm>
            <a:off x="8906256" y="3547872"/>
            <a:ext cx="73151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97696" y="3456432"/>
            <a:ext cx="58521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703FA0"/>
                </a:solidFill>
                <a:latin typeface="微软雅黑"/>
              </a:rPr>
              <a:t>local c</a:t>
            </a:r>
          </a:p>
        </p:txBody>
      </p:sp>
      <p:sp>
        <p:nvSpPr>
          <p:cNvPr id="61" name="Chevron 60"/>
          <p:cNvSpPr/>
          <p:nvPr/>
        </p:nvSpPr>
        <p:spPr>
          <a:xfrm>
            <a:off x="9601200" y="3547872"/>
            <a:ext cx="73151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692640" y="3456432"/>
            <a:ext cx="58521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01784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008C95"/>
                </a:solidFill>
                <a:latin typeface="微软雅黑"/>
              </a:rPr>
              <a:t>token span</a:t>
            </a:r>
          </a:p>
        </p:txBody>
      </p:sp>
      <p:sp>
        <p:nvSpPr>
          <p:cNvPr id="64" name="Chevron 63"/>
          <p:cNvSpPr/>
          <p:nvPr/>
        </p:nvSpPr>
        <p:spPr>
          <a:xfrm>
            <a:off x="10296144" y="3547872"/>
            <a:ext cx="73151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387584" y="3456432"/>
            <a:ext cx="58521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96728" y="347472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70AD47"/>
                </a:solidFill>
                <a:latin typeface="微软雅黑"/>
              </a:rPr>
              <a:t>update</a:t>
            </a:r>
          </a:p>
        </p:txBody>
      </p:sp>
      <p:sp>
        <p:nvSpPr>
          <p:cNvPr id="67" name="Oval 66"/>
          <p:cNvSpPr/>
          <p:nvPr/>
        </p:nvSpPr>
        <p:spPr>
          <a:xfrm>
            <a:off x="8302752" y="418795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85632" y="409651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2A3A"/>
                </a:solidFill>
                <a:latin typeface="微软雅黑"/>
              </a:rPr>
              <a:t>Pure GRPO：已完成基线</a:t>
            </a:r>
          </a:p>
        </p:txBody>
      </p:sp>
      <p:sp>
        <p:nvSpPr>
          <p:cNvPr id="69" name="Oval 68"/>
          <p:cNvSpPr/>
          <p:nvPr/>
        </p:nvSpPr>
        <p:spPr>
          <a:xfrm>
            <a:off x="8302752" y="4517136"/>
            <a:ext cx="100584" cy="100584"/>
          </a:xfrm>
          <a:prstGeom prst="ellipse">
            <a:avLst/>
          </a:prstGeom>
          <a:solidFill>
            <a:srgbClr val="70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85632" y="4425696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2A3A"/>
                </a:solidFill>
                <a:latin typeface="微软雅黑"/>
              </a:rPr>
              <a:t>方案 A：研究计划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56875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同一 harness、同一工具可观测性、不同进化对象；结果按 OEA 的 tool / success / answer 多维口径报告。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F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841248"/>
            <a:ext cx="146304" cy="51663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78638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D7F2"/>
                </a:solidFill>
                <a:latin typeface="Aptos"/>
              </a:rPr>
              <a:t>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7043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487168"/>
            <a:ext cx="9601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经验与协议自进化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10128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7E5F2"/>
                </a:solidFill>
                <a:latin typeface="微软雅黑"/>
              </a:rPr>
              <a:t>ExperienceEvo 先解决动态产物状态，PromptEvo 再固化跨任务协议。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4663440"/>
            <a:ext cx="9738360" cy="0"/>
          </a:xfrm>
          <a:prstGeom prst="line">
            <a:avLst/>
          </a:prstGeom>
          <a:ln w="15240">
            <a:solidFill>
              <a:srgbClr val="669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4846320"/>
            <a:ext cx="9326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D7F2"/>
                </a:solidFill>
                <a:latin typeface="Aptos"/>
              </a:rPr>
              <a:t>ExperienceEvo · PromptEvo · Boundary · Agentic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14476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8D7F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 · EXPERIENCEEVO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v4-clean：将真实 rollout 抽象为可执行的 artifact-state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先过滤可消费产物，再做检索与可靠性排序；运行时用 step hint 和 verifier 闭合证据。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Terrabox · ExperienceEvo / PromptEvo · 中期答辩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08760"/>
            <a:ext cx="2048256" cy="1207008"/>
          </a:xfrm>
          <a:prstGeom prst="roundRect">
            <a:avLst/>
          </a:prstGeom>
          <a:solidFill>
            <a:srgbClr val="EBF1FA"/>
          </a:solidFill>
          <a:ln w="1778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627631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Real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94767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train2000
rollout-only</a:t>
            </a:r>
          </a:p>
        </p:txBody>
      </p:sp>
      <p:sp>
        <p:nvSpPr>
          <p:cNvPr id="15" name="Chevron 14"/>
          <p:cNvSpPr/>
          <p:nvPr/>
        </p:nvSpPr>
        <p:spPr>
          <a:xfrm>
            <a:off x="2761488" y="1929384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44368" y="1508760"/>
            <a:ext cx="2048256" cy="1207008"/>
          </a:xfrm>
          <a:prstGeom prst="roundRect">
            <a:avLst/>
          </a:prstGeom>
          <a:solidFill>
            <a:srgbClr val="E2F0D9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1627631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Transition mining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194767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input / output
artifact + recovery</a:t>
            </a:r>
          </a:p>
        </p:txBody>
      </p:sp>
      <p:sp>
        <p:nvSpPr>
          <p:cNvPr id="19" name="Chevron 18"/>
          <p:cNvSpPr/>
          <p:nvPr/>
        </p:nvSpPr>
        <p:spPr>
          <a:xfrm>
            <a:off x="5047488" y="1929384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30368" y="1508760"/>
            <a:ext cx="2048256" cy="12070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1627631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Q / N / 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194767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quality · support
risk</a:t>
            </a:r>
          </a:p>
        </p:txBody>
      </p:sp>
      <p:sp>
        <p:nvSpPr>
          <p:cNvPr id="23" name="Chevron 22"/>
          <p:cNvSpPr/>
          <p:nvPr/>
        </p:nvSpPr>
        <p:spPr>
          <a:xfrm>
            <a:off x="7333488" y="1929384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16368" y="1508760"/>
            <a:ext cx="2048256" cy="1207008"/>
          </a:xfrm>
          <a:prstGeom prst="roundRect">
            <a:avLst/>
          </a:prstGeom>
          <a:solidFill>
            <a:srgbClr val="FDEAD7"/>
          </a:solidFill>
          <a:ln w="1778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1627631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State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194767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precondition
BM25 + RRF</a:t>
            </a:r>
          </a:p>
        </p:txBody>
      </p:sp>
      <p:sp>
        <p:nvSpPr>
          <p:cNvPr id="27" name="Chevron 26"/>
          <p:cNvSpPr/>
          <p:nvPr/>
        </p:nvSpPr>
        <p:spPr>
          <a:xfrm>
            <a:off x="9619488" y="1929384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02368" y="1508760"/>
            <a:ext cx="2048256" cy="1207008"/>
          </a:xfrm>
          <a:prstGeom prst="roundRect">
            <a:avLst/>
          </a:prstGeom>
          <a:solidFill>
            <a:srgbClr val="F0E8F7"/>
          </a:solidFill>
          <a:ln w="1778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1627631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Runtime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194767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step hint
verifier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154680"/>
            <a:ext cx="3675887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336499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经验的最小结构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3858768"/>
            <a:ext cx="658368" cy="347472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3877055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8C95"/>
                </a:solidFill>
                <a:latin typeface="微软雅黑"/>
              </a:rPr>
              <a:t>input</a:t>
            </a:r>
          </a:p>
        </p:txBody>
      </p:sp>
      <p:sp>
        <p:nvSpPr>
          <p:cNvPr id="35" name="Chevron 34"/>
          <p:cNvSpPr/>
          <p:nvPr/>
        </p:nvSpPr>
        <p:spPr>
          <a:xfrm>
            <a:off x="1636776" y="3950207"/>
            <a:ext cx="82296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37360" y="3858768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46504" y="3877055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D7D31"/>
                </a:solidFill>
                <a:latin typeface="微软雅黑"/>
              </a:rPr>
              <a:t>tool</a:t>
            </a:r>
          </a:p>
        </p:txBody>
      </p:sp>
      <p:sp>
        <p:nvSpPr>
          <p:cNvPr id="38" name="Chevron 37"/>
          <p:cNvSpPr/>
          <p:nvPr/>
        </p:nvSpPr>
        <p:spPr>
          <a:xfrm>
            <a:off x="2414016" y="3950207"/>
            <a:ext cx="82296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14600" y="3858768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23744" y="3877055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70AD47"/>
                </a:solidFill>
                <a:latin typeface="微软雅黑"/>
              </a:rPr>
              <a:t>output</a:t>
            </a:r>
          </a:p>
        </p:txBody>
      </p:sp>
      <p:sp>
        <p:nvSpPr>
          <p:cNvPr id="41" name="Chevron 40"/>
          <p:cNvSpPr/>
          <p:nvPr/>
        </p:nvSpPr>
        <p:spPr>
          <a:xfrm>
            <a:off x="3191256" y="3950207"/>
            <a:ext cx="82296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291839" y="3858768"/>
            <a:ext cx="65836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00983" y="3877055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703FA0"/>
                </a:solidFill>
                <a:latin typeface="微软雅黑"/>
              </a:rPr>
              <a:t>recover</a:t>
            </a:r>
          </a:p>
        </p:txBody>
      </p:sp>
      <p:sp>
        <p:nvSpPr>
          <p:cNvPr id="44" name="Oval 43"/>
          <p:cNvSpPr/>
          <p:nvPr/>
        </p:nvSpPr>
        <p:spPr>
          <a:xfrm>
            <a:off x="950976" y="4498848"/>
            <a:ext cx="100584" cy="100584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3856" y="4407408"/>
            <a:ext cx="29077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02A3A"/>
                </a:solidFill>
                <a:latin typeface="微软雅黑"/>
              </a:rPr>
              <a:t>产物来源与输出契约</a:t>
            </a:r>
          </a:p>
        </p:txBody>
      </p:sp>
      <p:sp>
        <p:nvSpPr>
          <p:cNvPr id="46" name="Oval 45"/>
          <p:cNvSpPr/>
          <p:nvPr/>
        </p:nvSpPr>
        <p:spPr>
          <a:xfrm>
            <a:off x="950976" y="4809744"/>
            <a:ext cx="100584" cy="10058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3856" y="4718304"/>
            <a:ext cx="29077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02A3A"/>
                </a:solidFill>
                <a:latin typeface="微软雅黑"/>
              </a:rPr>
              <a:t>当前状态可消费才进入候选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45152" y="3154680"/>
            <a:ext cx="3108960" cy="201168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64608" y="3364992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D7D31"/>
                </a:solidFill>
                <a:latin typeface="微软雅黑"/>
              </a:rPr>
              <a:t>示例：产物依赖链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64608" y="3822191"/>
            <a:ext cx="758952" cy="384048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73752" y="3840479"/>
            <a:ext cx="7406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08C95"/>
                </a:solidFill>
                <a:latin typeface="微软雅黑"/>
              </a:rPr>
              <a:t>post image</a:t>
            </a:r>
          </a:p>
        </p:txBody>
      </p:sp>
      <p:sp>
        <p:nvSpPr>
          <p:cNvPr id="52" name="Chevron 51"/>
          <p:cNvSpPr/>
          <p:nvPr/>
        </p:nvSpPr>
        <p:spPr>
          <a:xfrm>
            <a:off x="5641848" y="3913631"/>
            <a:ext cx="118872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779008" y="3822191"/>
            <a:ext cx="758952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88152" y="3840479"/>
            <a:ext cx="7406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70AD47"/>
                </a:solidFill>
                <a:latin typeface="微软雅黑"/>
              </a:rPr>
              <a:t>mask</a:t>
            </a:r>
          </a:p>
        </p:txBody>
      </p:sp>
      <p:sp>
        <p:nvSpPr>
          <p:cNvPr id="55" name="Chevron 54"/>
          <p:cNvSpPr/>
          <p:nvPr/>
        </p:nvSpPr>
        <p:spPr>
          <a:xfrm>
            <a:off x="6556248" y="3913631"/>
            <a:ext cx="118872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693408" y="3822191"/>
            <a:ext cx="758952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02552" y="3840479"/>
            <a:ext cx="7406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703FA0"/>
                </a:solidFill>
                <a:latin typeface="微软雅黑"/>
              </a:rPr>
              <a:t>area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64608" y="4443984"/>
            <a:ext cx="25786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2A3A"/>
                </a:solidFill>
                <a:latin typeface="微软雅黑"/>
              </a:rPr>
              <a:t>时间、对象、单位、CRS
是状态的一部分，而非装饰文本。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28431" y="3154680"/>
            <a:ext cx="3419856" cy="2011680"/>
          </a:xfrm>
          <a:prstGeom prst="roundRect">
            <a:avLst/>
          </a:prstGeom>
          <a:solidFill>
            <a:srgbClr val="EBF1FA"/>
          </a:solidFill>
          <a:ln w="1270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6175" y="3364992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AB6"/>
                </a:solidFill>
                <a:latin typeface="微软雅黑"/>
              </a:rPr>
              <a:t>严格 rollout-only</a:t>
            </a:r>
          </a:p>
        </p:txBody>
      </p:sp>
      <p:sp>
        <p:nvSpPr>
          <p:cNvPr id="61" name="Oval 60"/>
          <p:cNvSpPr/>
          <p:nvPr/>
        </p:nvSpPr>
        <p:spPr>
          <a:xfrm>
            <a:off x="8266175" y="3931920"/>
            <a:ext cx="100584" cy="100584"/>
          </a:xfrm>
          <a:prstGeom prst="ellipse">
            <a:avLst/>
          </a:prstGeom>
          <a:solidFill>
            <a:srgbClr val="005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49055" y="384048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02A3A"/>
                </a:solidFill>
                <a:latin typeface="微软雅黑"/>
              </a:rPr>
              <a:t>不读取 gold tool calls / answer</a:t>
            </a:r>
          </a:p>
        </p:txBody>
      </p:sp>
      <p:sp>
        <p:nvSpPr>
          <p:cNvPr id="63" name="Oval 62"/>
          <p:cNvSpPr/>
          <p:nvPr/>
        </p:nvSpPr>
        <p:spPr>
          <a:xfrm>
            <a:off x="8266175" y="4261103"/>
            <a:ext cx="100584" cy="100584"/>
          </a:xfrm>
          <a:prstGeom prst="ellipse">
            <a:avLst/>
          </a:prstGeom>
          <a:solidFill>
            <a:srgbClr val="005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49055" y="4169663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02A3A"/>
                </a:solidFill>
                <a:latin typeface="微软雅黑"/>
              </a:rPr>
              <a:t>不读取 expected_tools / task id</a:t>
            </a:r>
          </a:p>
        </p:txBody>
      </p:sp>
      <p:sp>
        <p:nvSpPr>
          <p:cNvPr id="65" name="Oval 64"/>
          <p:cNvSpPr/>
          <p:nvPr/>
        </p:nvSpPr>
        <p:spPr>
          <a:xfrm>
            <a:off x="8266175" y="4590288"/>
            <a:ext cx="100584" cy="100584"/>
          </a:xfrm>
          <a:prstGeom prst="ellipse">
            <a:avLst/>
          </a:prstGeom>
          <a:solidFill>
            <a:srgbClr val="005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49055" y="4498848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02A3A"/>
                </a:solidFill>
                <a:latin typeface="微软雅黑"/>
              </a:rPr>
              <a:t>只校验真实工具输出证据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05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v4-clean 主结果：工具链、序列匹配与效率全面改善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LongCat · OEA test 1162 · matched tool configuration；普通文本答案口径单独报告。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OEA full eval · n=1162 · Base vs ExperienceEvo v4-clean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08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1344168"/>
          <a:ext cx="7498080" cy="4882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463040"/>
                <a:gridCol w="1554480"/>
                <a:gridCol w="2423160"/>
              </a:tblGrid>
              <a:tr h="34877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Base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v4-clean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变化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Task success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86.90%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92.51%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+5.61pp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Answer acc. w/ gen.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66.20%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76.06%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+9.86pp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Tool error rate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15.4%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9.6%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−5.8pp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Set / Multiset F1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.703 / .637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.774 / .722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+.071 / +.085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Exact / Ordered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19.6 / 15.7%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42.3 / 34.2%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+22.7 / +18.5pp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Perception / OSM F1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34.47 / 35.68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44.67 / 58.50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+10.20 / +22.82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Local compute / GIS F1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30.00 / 82.46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40.29 / 90.11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+10.29 / +7.65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Tools / task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6.48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4.80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−1.68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LLM calls / task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7.39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5.89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−1.50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Tokens / task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55,810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53,835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−1,975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Time / task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336.4s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268.1s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−68.3s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Errors / task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.50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.25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−.25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</a:tr>
              <a:tr h="348782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F4F89"/>
                          </a:solidFill>
                          <a:latin typeface="微软雅黑"/>
                        </a:rPr>
                        <a:t>Answer accuracy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2F4F89"/>
                          </a:solidFill>
                          <a:latin typeface="微软雅黑"/>
                        </a:rPr>
                        <a:t>49.67%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2F4F89"/>
                          </a:solidFill>
                          <a:latin typeface="微软雅黑"/>
                        </a:rPr>
                        <a:t>49.32%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2F4F89"/>
                          </a:solidFill>
                          <a:latin typeface="微软雅黑"/>
                        </a:rPr>
                        <a:t>−0.35pp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375904" y="1417320"/>
            <a:ext cx="3054096" cy="20756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08760"/>
            <a:ext cx="2798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4F89"/>
                </a:solidFill>
                <a:latin typeface="微软雅黑"/>
              </a:rPr>
              <a:t>可靠性 (%)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68512" y="3099816"/>
            <a:ext cx="2596896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94192" y="302666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68512" y="2685288"/>
            <a:ext cx="2596896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94192" y="2612136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33.3333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68512" y="2270760"/>
            <a:ext cx="2596896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94192" y="2197608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66.6667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68512" y="1856232"/>
            <a:ext cx="2596896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94192" y="1783080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4564" y="2019141"/>
            <a:ext cx="219456" cy="1080674"/>
          </a:xfrm>
          <a:prstGeom prst="rect">
            <a:avLst/>
          </a:prstGeom>
          <a:solidFill>
            <a:srgbClr val="2F4F89"/>
          </a:solidFill>
          <a:ln w="254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7988" y="1817973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86.9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1684" y="316382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success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83011" y="2908304"/>
            <a:ext cx="219456" cy="191511"/>
          </a:xfrm>
          <a:prstGeom prst="rect">
            <a:avLst/>
          </a:prstGeom>
          <a:solidFill>
            <a:srgbClr val="2F4F89"/>
          </a:solidFill>
          <a:ln w="254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46436" y="2707136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15.4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00132" y="316382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tool err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31452" y="1949376"/>
            <a:ext cx="219456" cy="1150439"/>
          </a:xfrm>
          <a:prstGeom prst="rect">
            <a:avLst/>
          </a:prstGeom>
          <a:solidFill>
            <a:srgbClr val="008C95"/>
          </a:solidFill>
          <a:ln w="25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4876" y="1748208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92.51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29899" y="2980431"/>
            <a:ext cx="219456" cy="119384"/>
          </a:xfrm>
          <a:prstGeom prst="rect">
            <a:avLst/>
          </a:prstGeom>
          <a:solidFill>
            <a:srgbClr val="008C95"/>
          </a:solidFill>
          <a:ln w="25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93324" y="2779263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9.6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1527048"/>
            <a:ext cx="91440" cy="91440"/>
          </a:xfrm>
          <a:prstGeom prst="rect">
            <a:avLst/>
          </a:prstGeom>
          <a:solidFill>
            <a:srgbClr val="2F4F89"/>
          </a:solidFill>
          <a:ln w="127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0616" y="149047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Base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32720" y="1527048"/>
            <a:ext cx="91440" cy="91440"/>
          </a:xfrm>
          <a:prstGeom prst="rect">
            <a:avLst/>
          </a:prstGeom>
          <a:solidFill>
            <a:srgbClr val="008C95"/>
          </a:solidFill>
          <a:ln w="127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0736" y="149047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v4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3310128"/>
            <a:ext cx="27797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1">
                <a:solidFill>
                  <a:srgbClr val="687280"/>
                </a:solidFill>
                <a:latin typeface="微软雅黑"/>
              </a:rPr>
              <a:t>percentage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75904" y="3657600"/>
            <a:ext cx="3054096" cy="20756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3749039"/>
            <a:ext cx="2798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4F89"/>
                </a:solidFill>
                <a:latin typeface="微软雅黑"/>
              </a:rPr>
              <a:t>效率（相对量）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68512" y="5340096"/>
            <a:ext cx="2596896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94192" y="526694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668512" y="4925568"/>
            <a:ext cx="2596896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394192" y="4852416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2.33333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668512" y="4511040"/>
            <a:ext cx="2596896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394192" y="4437888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4.66667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68512" y="4096512"/>
            <a:ext cx="2596896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394192" y="4023360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84564" y="4188892"/>
            <a:ext cx="219456" cy="1151203"/>
          </a:xfrm>
          <a:prstGeom prst="rect">
            <a:avLst/>
          </a:prstGeom>
          <a:solidFill>
            <a:srgbClr val="2F4F89"/>
          </a:solidFill>
          <a:ln w="254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47988" y="398772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6.48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01684" y="540410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tools/task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83011" y="4742465"/>
            <a:ext cx="219456" cy="597630"/>
          </a:xfrm>
          <a:prstGeom prst="rect">
            <a:avLst/>
          </a:prstGeom>
          <a:solidFill>
            <a:srgbClr val="2F4F89"/>
          </a:solidFill>
          <a:ln w="254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46436" y="4541297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3.364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00132" y="540410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time/100s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31452" y="4487352"/>
            <a:ext cx="219456" cy="852743"/>
          </a:xfrm>
          <a:prstGeom prst="rect">
            <a:avLst/>
          </a:prstGeom>
          <a:solidFill>
            <a:srgbClr val="008C95"/>
          </a:solidFill>
          <a:ln w="25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94876" y="428618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4.8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29899" y="4863803"/>
            <a:ext cx="219456" cy="476292"/>
          </a:xfrm>
          <a:prstGeom prst="rect">
            <a:avLst/>
          </a:prstGeom>
          <a:solidFill>
            <a:srgbClr val="008C95"/>
          </a:solidFill>
          <a:ln w="25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93324" y="4662635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2.681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72600" y="3767328"/>
            <a:ext cx="91440" cy="91440"/>
          </a:xfrm>
          <a:prstGeom prst="rect">
            <a:avLst/>
          </a:prstGeom>
          <a:solidFill>
            <a:srgbClr val="2F4F89"/>
          </a:solidFill>
          <a:ln w="127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00616" y="373075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Base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32720" y="3767328"/>
            <a:ext cx="91440" cy="91440"/>
          </a:xfrm>
          <a:prstGeom prst="rect">
            <a:avLst/>
          </a:prstGeom>
          <a:solidFill>
            <a:srgbClr val="008C95"/>
          </a:solidFill>
          <a:ln w="127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60736" y="373075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v4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13064" y="5550407"/>
            <a:ext cx="27797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1">
                <a:solidFill>
                  <a:srgbClr val="687280"/>
                </a:solidFill>
                <a:latin typeface="微软雅黑"/>
              </a:rPr>
              <a:t>tools/task; time/100s · lower is better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06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机制消融与外部方法对照：收益不是单纯增加 prompt 长度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消融使用诊断口径；外部方法为 OEA harness 上的 adapted/reimplemented 结果。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Diagnostics / adapted comparison · 口径与主表分开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353312"/>
            <a:ext cx="3703320" cy="2167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444752"/>
            <a:ext cx="34472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4F89"/>
                </a:solidFill>
                <a:latin typeface="微软雅黑"/>
              </a:rPr>
              <a:t>Set F1 · 全量诊断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3127248"/>
            <a:ext cx="3246120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054096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8" y="2682240"/>
            <a:ext cx="3246120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2609087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0.283333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" y="2237232"/>
            <a:ext cx="3246120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2164080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0.566667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8" y="1792224"/>
            <a:ext cx="3246120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1719072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0.85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7572" y="1911590"/>
            <a:ext cx="219456" cy="1215657"/>
          </a:xfrm>
          <a:prstGeom prst="rect">
            <a:avLst/>
          </a:prstGeom>
          <a:solidFill>
            <a:srgbClr val="008C95"/>
          </a:solidFill>
          <a:ln w="25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0995" y="1710422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0.774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" y="3191256"/>
            <a:ext cx="649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Full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96795" y="1917873"/>
            <a:ext cx="219456" cy="1209374"/>
          </a:xfrm>
          <a:prstGeom prst="rect">
            <a:avLst/>
          </a:prstGeom>
          <a:solidFill>
            <a:srgbClr val="008C95"/>
          </a:solidFill>
          <a:ln w="25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60219" y="1716705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0.77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3916" y="3191256"/>
            <a:ext cx="649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−QNR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46020" y="1966562"/>
            <a:ext cx="219456" cy="1160685"/>
          </a:xfrm>
          <a:prstGeom prst="rect">
            <a:avLst/>
          </a:prstGeom>
          <a:solidFill>
            <a:srgbClr val="008C95"/>
          </a:solidFill>
          <a:ln w="25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09444" y="176539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0.739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3140" y="3191256"/>
            <a:ext cx="649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−hint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95244" y="1944573"/>
            <a:ext cx="219456" cy="1182674"/>
          </a:xfrm>
          <a:prstGeom prst="rect">
            <a:avLst/>
          </a:prstGeom>
          <a:solidFill>
            <a:srgbClr val="008C95"/>
          </a:solidFill>
          <a:ln w="25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58668" y="1743405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0.753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2364" y="3191256"/>
            <a:ext cx="649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−ver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4468" y="1957138"/>
            <a:ext cx="219456" cy="1170109"/>
          </a:xfrm>
          <a:prstGeom prst="rect">
            <a:avLst/>
          </a:prstGeom>
          <a:solidFill>
            <a:srgbClr val="008C95"/>
          </a:solidFill>
          <a:ln w="25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7892" y="175597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0.745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1588" y="3191256"/>
            <a:ext cx="649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Random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1463040"/>
            <a:ext cx="91440" cy="91440"/>
          </a:xfrm>
          <a:prstGeom prst="rect">
            <a:avLst/>
          </a:prstGeom>
          <a:solidFill>
            <a:srgbClr val="008C95"/>
          </a:solidFill>
          <a:ln w="127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14016" y="142646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F1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3337560"/>
            <a:ext cx="3429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1">
                <a:solidFill>
                  <a:srgbClr val="687280"/>
                </a:solidFill>
                <a:latin typeface="微软雅黑"/>
              </a:rPr>
              <a:t>score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703320"/>
            <a:ext cx="3703320" cy="21671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3794759"/>
            <a:ext cx="34472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4F89"/>
                </a:solidFill>
                <a:latin typeface="微软雅黑"/>
              </a:rPr>
              <a:t>Ordered exact (%)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32688" y="5477256"/>
            <a:ext cx="3246120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5404104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32688" y="5032248"/>
            <a:ext cx="3246120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8" y="4959096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13.3333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32688" y="4587240"/>
            <a:ext cx="3246120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4514088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26.6667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32688" y="4142231"/>
            <a:ext cx="3246120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4069079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7572" y="4335810"/>
            <a:ext cx="219456" cy="1141445"/>
          </a:xfrm>
          <a:prstGeom prst="rect">
            <a:avLst/>
          </a:prstGeom>
          <a:solidFill>
            <a:srgbClr val="ED7D31"/>
          </a:solidFill>
          <a:ln w="25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0995" y="4134642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34.2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" y="5541264"/>
            <a:ext cx="649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Full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96795" y="4322460"/>
            <a:ext cx="219456" cy="1154795"/>
          </a:xfrm>
          <a:prstGeom prst="rect">
            <a:avLst/>
          </a:prstGeom>
          <a:solidFill>
            <a:srgbClr val="ED7D31"/>
          </a:solidFill>
          <a:ln w="25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60219" y="4121292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34.6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3916" y="5541264"/>
            <a:ext cx="649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−QNR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46020" y="4649541"/>
            <a:ext cx="219456" cy="827714"/>
          </a:xfrm>
          <a:prstGeom prst="rect">
            <a:avLst/>
          </a:prstGeom>
          <a:solidFill>
            <a:srgbClr val="ED7D31"/>
          </a:solidFill>
          <a:ln w="25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09444" y="4448373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24.8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63140" y="5541264"/>
            <a:ext cx="649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−hint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95244" y="4526051"/>
            <a:ext cx="219456" cy="951204"/>
          </a:xfrm>
          <a:prstGeom prst="rect">
            <a:avLst/>
          </a:prstGeom>
          <a:solidFill>
            <a:srgbClr val="ED7D31"/>
          </a:solidFill>
          <a:ln w="25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58668" y="4324883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28.5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12364" y="5541264"/>
            <a:ext cx="649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−ver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4468" y="4435937"/>
            <a:ext cx="219456" cy="1041318"/>
          </a:xfrm>
          <a:prstGeom prst="rect">
            <a:avLst/>
          </a:prstGeom>
          <a:solidFill>
            <a:srgbClr val="ED7D31"/>
          </a:solidFill>
          <a:ln w="25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07892" y="4234769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31.2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61588" y="5541264"/>
            <a:ext cx="649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Random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0" y="3813048"/>
            <a:ext cx="91440" cy="91440"/>
          </a:xfrm>
          <a:prstGeom prst="rect">
            <a:avLst/>
          </a:prstGeom>
          <a:solidFill>
            <a:srgbClr val="ED7D31"/>
          </a:solidFill>
          <a:ln w="12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14016" y="377647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Exact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5687568"/>
            <a:ext cx="3429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1">
                <a:solidFill>
                  <a:srgbClr val="687280"/>
                </a:solidFill>
                <a:latin typeface="微软雅黑"/>
              </a:rPr>
              <a:t>percentage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4590288" y="1353312"/>
          <a:ext cx="63093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/>
                <a:gridCol w="1024128"/>
                <a:gridCol w="1572768"/>
                <a:gridCol w="1078992"/>
                <a:gridCol w="1005840"/>
              </a:tblGrid>
              <a:tr h="463731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Method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Success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Set / Multi F1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Tool err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Tools/task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Reflection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89.4%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.706 / .639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13.0%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6.17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MemRL adapted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89.8%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.699 / .662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9.7%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6.18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ExpeL adapted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88.6%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.723 / .651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52.2%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6.36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ACE adapted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89.0%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.723 / .657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15.6%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6.27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Memento adapted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85.0%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.691 / .626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37.2%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202A3A"/>
                          </a:solidFill>
                          <a:latin typeface="微软雅黑"/>
                        </a:rPr>
                        <a:t>6.95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373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F4F89"/>
                          </a:solidFill>
                          <a:latin typeface="微软雅黑"/>
                        </a:rPr>
                        <a:t>ExperienceEvo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2F4F89"/>
                          </a:solidFill>
                          <a:latin typeface="微软雅黑"/>
                        </a:rPr>
                        <a:t>92.51%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2F4F89"/>
                          </a:solidFill>
                          <a:latin typeface="微软雅黑"/>
                        </a:rPr>
                        <a:t>.774 / .722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2F4F89"/>
                          </a:solidFill>
                          <a:latin typeface="微软雅黑"/>
                        </a:rPr>
                        <a:t>9.6%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2F4F89"/>
                          </a:solidFill>
                          <a:latin typeface="微软雅黑"/>
                        </a:rPr>
                        <a:t>4.80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69" name="Rounded Rectangle 68"/>
          <p:cNvSpPr/>
          <p:nvPr/>
        </p:nvSpPr>
        <p:spPr>
          <a:xfrm>
            <a:off x="4590288" y="4846320"/>
            <a:ext cx="6839712" cy="1024128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28032" y="5038344"/>
            <a:ext cx="63550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02A3A"/>
                </a:solidFill>
                <a:latin typeface="微软雅黑"/>
              </a:rPr>
              <a:t>稳妥解读：step hint、verifier 与检索质量有明显作用；QNR 单独差异较小。外部方法均为本地 harness 适配，不能等同官方 leaderboard。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07 ·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Boundary：从“经验是否可靠”推进到“经验何时适用”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父库只读；反例驱动条件修正；test 前冻结规则；未知条件回退通用 ReAct。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Boundary full mode · parent store unchanged · frozen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44752"/>
            <a:ext cx="2048256" cy="1234440"/>
          </a:xfrm>
          <a:prstGeom prst="roundRect">
            <a:avLst/>
          </a:prstGeom>
          <a:solidFill>
            <a:srgbClr val="EBF1FA"/>
          </a:solidFill>
          <a:ln w="1778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563624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Parent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883664"/>
            <a:ext cx="1828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803 families
read-only</a:t>
            </a:r>
          </a:p>
        </p:txBody>
      </p:sp>
      <p:sp>
        <p:nvSpPr>
          <p:cNvPr id="15" name="Chevron 14"/>
          <p:cNvSpPr/>
          <p:nvPr/>
        </p:nvSpPr>
        <p:spPr>
          <a:xfrm>
            <a:off x="2761488" y="1865376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44368" y="1444752"/>
            <a:ext cx="2048256" cy="1234440"/>
          </a:xfrm>
          <a:prstGeom prst="roundRect">
            <a:avLst/>
          </a:prstGeom>
          <a:solidFill>
            <a:srgbClr val="FDEAD7"/>
          </a:solidFill>
          <a:ln w="1778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1563624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Three probes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1883664"/>
            <a:ext cx="1828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preserve / change
break precondition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5047488" y="1865376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30368" y="1444752"/>
            <a:ext cx="2048256" cy="1234440"/>
          </a:xfrm>
          <a:prstGeom prst="roundRect">
            <a:avLst/>
          </a:prstGeom>
          <a:solidFill>
            <a:srgbClr val="F0E8F7"/>
          </a:solidFill>
          <a:ln w="1778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1563624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Proposer + Auditor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1883664"/>
            <a:ext cx="1828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662 pairs
44 real replays</a:t>
            </a:r>
          </a:p>
        </p:txBody>
      </p:sp>
      <p:sp>
        <p:nvSpPr>
          <p:cNvPr id="23" name="Chevron 22"/>
          <p:cNvSpPr/>
          <p:nvPr/>
        </p:nvSpPr>
        <p:spPr>
          <a:xfrm>
            <a:off x="7333488" y="1865376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16368" y="1444752"/>
            <a:ext cx="2048256" cy="1234440"/>
          </a:xfrm>
          <a:prstGeom prst="roundRect">
            <a:avLst/>
          </a:prstGeom>
          <a:solidFill>
            <a:srgbClr val="FAE7E7"/>
          </a:solidFill>
          <a:ln w="1778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1563624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Rule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1883664"/>
            <a:ext cx="1828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keep · add
split · quarantine</a:t>
            </a:r>
          </a:p>
        </p:txBody>
      </p:sp>
      <p:sp>
        <p:nvSpPr>
          <p:cNvPr id="27" name="Chevron 26"/>
          <p:cNvSpPr/>
          <p:nvPr/>
        </p:nvSpPr>
        <p:spPr>
          <a:xfrm>
            <a:off x="9619488" y="1865376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02368" y="1444752"/>
            <a:ext cx="2048256" cy="1234440"/>
          </a:xfrm>
          <a:prstGeom prst="roundRect">
            <a:avLst/>
          </a:prstGeom>
          <a:solidFill>
            <a:srgbClr val="E2F0D9"/>
          </a:solidFill>
          <a:ln w="1778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1563624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Frozen OEA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1883664"/>
            <a:ext cx="1828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1162 tasks
real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154680"/>
            <a:ext cx="3657600" cy="2057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3649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训练侧冻结统计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30752"/>
            <a:ext cx="316382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02A3A"/>
                </a:solidFill>
                <a:latin typeface="微软雅黑"/>
              </a:rPr>
              <a:t>active rules       697
conditioned family 455
evidence            13,331
success / failure / unknown
10,269 / 311 / 2,751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45152" y="3154680"/>
            <a:ext cx="3163824" cy="20574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82896" y="3364992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D7D31"/>
                </a:solidFill>
                <a:latin typeface="微软雅黑"/>
              </a:rPr>
              <a:t>决策统计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6" y="3730752"/>
            <a:ext cx="261518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02A3A"/>
                </a:solidFill>
                <a:latin typeface="微软雅黑"/>
              </a:rPr>
              <a:t>add condition      64
split family        21
quarantine          106
keep                122
defer unknown       490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3154680"/>
            <a:ext cx="3383280" cy="2057400"/>
          </a:xfrm>
          <a:prstGeom prst="roundRect">
            <a:avLst/>
          </a:prstGeom>
          <a:solidFill>
            <a:srgbClr val="EBF1FA"/>
          </a:solidFill>
          <a:ln w="1270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3364992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AB6"/>
                </a:solidFill>
                <a:latin typeface="微软雅黑"/>
              </a:rPr>
              <a:t>当前公平评测状态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7033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4F89"/>
                </a:solidFill>
                <a:latin typeface="Aptos"/>
              </a:rPr>
              <a:t>838 / 1162  (72.1%)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39327" y="4133087"/>
            <a:ext cx="2788920" cy="164592"/>
          </a:xfrm>
          <a:prstGeom prst="roundRect">
            <a:avLst/>
          </a:prstGeom>
          <a:solidFill>
            <a:srgbClr val="C9D4E2"/>
          </a:solidFill>
          <a:ln w="254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39327" y="4133087"/>
            <a:ext cx="2011286" cy="164592"/>
          </a:xfrm>
          <a:prstGeom prst="roundRect">
            <a:avLst/>
          </a:prstGeom>
          <a:solidFill>
            <a:srgbClr val="008C95"/>
          </a:solidFill>
          <a:ln w="254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2752" y="449884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phase = full_eval
frozen_test = 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563270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</a:rPr>
              <a:t>状态标签：评测中。当前不展示 Boundary 的最终 Success/F1 提升，等全量结果与报告生成后再更新。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08 · PROMPTEVO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PromptEvo：将失败轨迹编译为受保护的 typed protocol 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动态经验解决当前状态；静态协议解决跨任务共性决策缺口。Stage2 非单调，因此 gate/rollback 是方法的一部分。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ToolBench strict split · API-Bank diagnostics · OEA contrastive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371600"/>
            <a:ext cx="2057400" cy="1078992"/>
          </a:xfrm>
          <a:prstGeom prst="roundRect">
            <a:avLst/>
          </a:prstGeom>
          <a:solidFill>
            <a:srgbClr val="FDEAD7"/>
          </a:solidFill>
          <a:ln w="1778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0472"/>
            <a:ext cx="1837943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Failure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10512"/>
            <a:ext cx="1837943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failure
attribution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2752344" y="1792224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35224" y="1371600"/>
            <a:ext cx="2057400" cy="1078992"/>
          </a:xfrm>
          <a:prstGeom prst="roundRect">
            <a:avLst/>
          </a:prstGeom>
          <a:solidFill>
            <a:srgbClr val="F0E8F7"/>
          </a:solidFill>
          <a:ln w="1778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490472"/>
            <a:ext cx="1837943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Typed 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1810512"/>
            <a:ext cx="1837943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tool / arg /
recovery / stop</a:t>
            </a:r>
          </a:p>
        </p:txBody>
      </p:sp>
      <p:sp>
        <p:nvSpPr>
          <p:cNvPr id="19" name="Chevron 18"/>
          <p:cNvSpPr/>
          <p:nvPr/>
        </p:nvSpPr>
        <p:spPr>
          <a:xfrm>
            <a:off x="5047488" y="1792224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30368" y="1371600"/>
            <a:ext cx="2057400" cy="1078992"/>
          </a:xfrm>
          <a:prstGeom prst="roundRect">
            <a:avLst/>
          </a:prstGeom>
          <a:solidFill>
            <a:srgbClr val="EBF1FA"/>
          </a:solidFill>
          <a:ln w="1778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1490472"/>
            <a:ext cx="1837943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Compiler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1810512"/>
            <a:ext cx="1837943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deterministic
protocol render</a:t>
            </a:r>
          </a:p>
        </p:txBody>
      </p:sp>
      <p:sp>
        <p:nvSpPr>
          <p:cNvPr id="23" name="Chevron 22"/>
          <p:cNvSpPr/>
          <p:nvPr/>
        </p:nvSpPr>
        <p:spPr>
          <a:xfrm>
            <a:off x="7342631" y="1792224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25511" y="1371600"/>
            <a:ext cx="2057400" cy="1078992"/>
          </a:xfrm>
          <a:prstGeom prst="roundRect">
            <a:avLst/>
          </a:prstGeom>
          <a:solidFill>
            <a:srgbClr val="E2F0D9"/>
          </a:solidFill>
          <a:ln w="1778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39" y="1490472"/>
            <a:ext cx="1837943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Paired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39" y="1810512"/>
            <a:ext cx="1837943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Base vs
candidate</a:t>
            </a:r>
          </a:p>
        </p:txBody>
      </p:sp>
      <p:sp>
        <p:nvSpPr>
          <p:cNvPr id="27" name="Chevron 26"/>
          <p:cNvSpPr/>
          <p:nvPr/>
        </p:nvSpPr>
        <p:spPr>
          <a:xfrm>
            <a:off x="9637776" y="1792224"/>
            <a:ext cx="128016" cy="256032"/>
          </a:xfrm>
          <a:prstGeom prst="chevron">
            <a:avLst/>
          </a:prstGeom>
          <a:solidFill>
            <a:srgbClr val="2F4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20655" y="1371600"/>
            <a:ext cx="2057400" cy="1078992"/>
          </a:xfrm>
          <a:prstGeom prst="roundRect">
            <a:avLst/>
          </a:prstGeom>
          <a:solidFill>
            <a:srgbClr val="E2F0D9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0383" y="1490472"/>
            <a:ext cx="1837943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4F89"/>
                </a:solidFill>
                <a:latin typeface="微软雅黑"/>
              </a:rPr>
              <a:t>Dev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3" y="1810512"/>
            <a:ext cx="1837943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280"/>
                </a:solidFill>
                <a:latin typeface="微软雅黑"/>
              </a:rPr>
              <a:t>accept / reject
rollback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2880360"/>
            <a:ext cx="3703320" cy="250545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10896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F4F89"/>
                </a:solidFill>
                <a:latin typeface="微软雅黑"/>
              </a:rPr>
              <a:t>ToolBench strict paper split · n=160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914400" y="3502152"/>
          <a:ext cx="3538728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749808"/>
                <a:gridCol w="731520"/>
                <a:gridCol w="713232"/>
                <a:gridCol w="685800"/>
              </a:tblGrid>
              <a:tr h="324612"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微软雅黑"/>
                        </a:rPr>
                        <a:t>Success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微软雅黑"/>
                        </a:rPr>
                        <a:t>Tool err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微软雅黑"/>
                        </a:rPr>
                        <a:t>Avg tools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微软雅黑"/>
                        </a:rPr>
                        <a:t>Give-up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Base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86.25%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14.37%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5.14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4.38%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Stage1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88.12%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7.50%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4.67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0.62%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Stage2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84.38%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10.00%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5.59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>
                          <a:solidFill>
                            <a:srgbClr val="202A3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932688" y="496519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微软雅黑"/>
              </a:rPr>
              <a:t>Stage1 正向；Stage2 回退 → 需要 gate / rollback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5152" y="2880360"/>
            <a:ext cx="3163824" cy="2505456"/>
          </a:xfrm>
          <a:prstGeom prst="roundRect">
            <a:avLst/>
          </a:prstGeom>
          <a:solidFill>
            <a:srgbClr val="EBF1FA"/>
          </a:solidFill>
          <a:ln w="1270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82896" y="3108960"/>
            <a:ext cx="26151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F4F89"/>
                </a:solidFill>
                <a:latin typeface="微软雅黑"/>
              </a:rPr>
              <a:t>API-Bank · n=389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82896" y="3547872"/>
            <a:ext cx="26060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02A3A"/>
                </a:solidFill>
                <a:latin typeface="微软雅黑"/>
              </a:rPr>
              <a:t>Success     82.78 → 83.55%
Tool F1     .9469 → .9572
API name    95.63 → 96.92%
Missing arg 4.63 → 3.34%
Extra arg   4.37 → 2.83%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5008" y="2880360"/>
            <a:ext cx="3383280" cy="2505456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3108960"/>
            <a:ext cx="2852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D7D31"/>
                </a:solidFill>
                <a:latin typeface="微软雅黑"/>
              </a:rPr>
              <a:t>边界与负结果</a:t>
            </a:r>
          </a:p>
        </p:txBody>
      </p:sp>
      <p:sp>
        <p:nvSpPr>
          <p:cNvPr id="40" name="Oval 39"/>
          <p:cNvSpPr/>
          <p:nvPr/>
        </p:nvSpPr>
        <p:spPr>
          <a:xfrm>
            <a:off x="8302752" y="3657600"/>
            <a:ext cx="100584" cy="100584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2" y="3566160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A3A"/>
                </a:solidFill>
                <a:latin typeface="微软雅黑"/>
              </a:rPr>
              <a:t>OEA Qwen3：Set F1 .628 → .661</a:t>
            </a:r>
          </a:p>
        </p:txBody>
      </p:sp>
      <p:sp>
        <p:nvSpPr>
          <p:cNvPr id="42" name="Oval 41"/>
          <p:cNvSpPr/>
          <p:nvPr/>
        </p:nvSpPr>
        <p:spPr>
          <a:xfrm>
            <a:off x="8302752" y="40233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2" y="3931920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A3A"/>
                </a:solidFill>
                <a:latin typeface="微软雅黑"/>
              </a:rPr>
              <a:t>Success 86.87% → 85.21%</a:t>
            </a:r>
          </a:p>
        </p:txBody>
      </p:sp>
      <p:sp>
        <p:nvSpPr>
          <p:cNvPr id="44" name="Oval 43"/>
          <p:cNvSpPr/>
          <p:nvPr/>
        </p:nvSpPr>
        <p:spPr>
          <a:xfrm>
            <a:off x="8302752" y="4389120"/>
            <a:ext cx="100584" cy="10058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4297680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A3A"/>
                </a:solidFill>
                <a:latin typeface="微软雅黑"/>
              </a:rPr>
              <a:t>协议调用改善 ≠ 任务成功必升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5632704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4F89"/>
                </a:solidFill>
                <a:latin typeface="微软雅黑"/>
              </a:rPr>
              <a:t>PromptEvo 的科学结论：失败归因可以改善通用协议，但补丁演化必须经过回归门控，不能假设单调提升。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F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841248"/>
            <a:ext cx="146304" cy="51663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78638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D7F2"/>
                </a:solidFill>
                <a:latin typeface="Aptos"/>
              </a:rPr>
              <a:t>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7043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487168"/>
            <a:ext cx="9601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RL 基线与下一步创新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10128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7E5F2"/>
                </a:solidFill>
                <a:latin typeface="微软雅黑"/>
              </a:rPr>
              <a:t>已完成真实环境 Pure GRPO；下一步把 provenance 约束对齐到工具调用 token。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4663440"/>
            <a:ext cx="9738360" cy="0"/>
          </a:xfrm>
          <a:prstGeom prst="line">
            <a:avLst/>
          </a:prstGeom>
          <a:ln w="15240">
            <a:solidFill>
              <a:srgbClr val="669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4846320"/>
            <a:ext cx="9326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D7F2"/>
                </a:solidFill>
                <a:latin typeface="Aptos"/>
              </a:rPr>
              <a:t>ExperienceEvo · PromptEvo · Boundary · Agentic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14476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8D7F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09 · RL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Pure GRPO：建立真实工具环境基线，也暴露 episode-level reward 的局限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同一任务采样多条真实 rollout → 在线规则 reward → 组内相对优势 → LoRA/QLoRA 更新。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Qwen2.5-3B · OEA full eval · online rule reward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13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94944" y="1426464"/>
          <a:ext cx="486460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868680"/>
                <a:gridCol w="850392"/>
                <a:gridCol w="987552"/>
              </a:tblGrid>
              <a:tr h="3703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OEA eval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Success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Set F1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Tool error</a:t>
                      </a:r>
                    </a:p>
                  </a:txBody>
                  <a:tcPr>
                    <a:solidFill>
                      <a:srgbClr val="005AB6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A3A"/>
                          </a:solidFill>
                          <a:latin typeface="微软雅黑"/>
                        </a:rPr>
                        <a:t>Base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A3A"/>
                          </a:solidFill>
                          <a:latin typeface="微软雅黑"/>
                        </a:rPr>
                        <a:t>71.86%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A3A"/>
                          </a:solidFill>
                          <a:latin typeface="微软雅黑"/>
                        </a:rPr>
                        <a:t>.5142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A3A"/>
                          </a:solidFill>
                          <a:latin typeface="微软雅黑"/>
                        </a:rPr>
                        <a:t>48.45%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A3A"/>
                          </a:solidFill>
                          <a:latin typeface="微软雅黑"/>
                        </a:rPr>
                        <a:t>Pure GRPO ckpt-1900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A3A"/>
                          </a:solidFill>
                          <a:latin typeface="微软雅黑"/>
                        </a:rPr>
                        <a:t>70.65%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A3A"/>
                          </a:solidFill>
                          <a:latin typeface="微软雅黑"/>
                        </a:rPr>
                        <a:t>.5102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A3A"/>
                          </a:solidFill>
                          <a:latin typeface="微软雅黑"/>
                        </a:rPr>
                        <a:t>49.74%</a:t>
                      </a:r>
                    </a:p>
                  </a:txBody>
                  <a:tcPr marL="36576" marR="36576" marT="18288" marB="18288">
                    <a:solidFill>
                      <a:srgbClr val="F5F7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F4F89"/>
                          </a:solidFill>
                          <a:latin typeface="微软雅黑"/>
                        </a:rPr>
                        <a:t>GRPO + ExperienceEvo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4F89"/>
                          </a:solidFill>
                          <a:latin typeface="微软雅黑"/>
                        </a:rPr>
                        <a:t>73.75%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4F89"/>
                          </a:solidFill>
                          <a:latin typeface="微软雅黑"/>
                        </a:rPr>
                        <a:t>.5137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4F89"/>
                          </a:solidFill>
                          <a:latin typeface="微软雅黑"/>
                        </a:rPr>
                        <a:t>34.17%</a:t>
                      </a:r>
                    </a:p>
                  </a:txBody>
                  <a:tcPr marL="36576" marR="36576" marT="18288" marB="18288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94944" y="3154680"/>
            <a:ext cx="4864608" cy="2039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46085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4F89"/>
                </a:solidFill>
                <a:latin typeface="微软雅黑"/>
              </a:rPr>
              <a:t>工具错误率（越低越好）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552" y="4800600"/>
            <a:ext cx="4407408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727448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2" y="4398264"/>
            <a:ext cx="4407408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4325112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18.3333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7552" y="3995928"/>
            <a:ext cx="4407408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922776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36.6667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7552" y="3593592"/>
            <a:ext cx="4407408" cy="0"/>
          </a:xfrm>
          <a:prstGeom prst="line">
            <a:avLst/>
          </a:prstGeom>
          <a:ln w="6985">
            <a:solidFill>
              <a:srgbClr val="E5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3520440"/>
            <a:ext cx="228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87280"/>
                </a:solidFill>
                <a:latin typeface="Aptos"/>
              </a:rPr>
              <a:t>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2391" y="3737335"/>
            <a:ext cx="219456" cy="1063264"/>
          </a:xfrm>
          <a:prstGeom prst="rect">
            <a:avLst/>
          </a:prstGeom>
          <a:solidFill>
            <a:srgbClr val="C00000"/>
          </a:solidFill>
          <a:ln w="25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75815" y="3536167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48.45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9512" y="4864608"/>
            <a:ext cx="14691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81527" y="3709025"/>
            <a:ext cx="219456" cy="1091574"/>
          </a:xfrm>
          <a:prstGeom prst="rect">
            <a:avLst/>
          </a:prstGeom>
          <a:solidFill>
            <a:srgbClr val="C00000"/>
          </a:solidFill>
          <a:ln w="25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1" y="3507857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49.74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8647" y="4864608"/>
            <a:ext cx="14691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GRPO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50664" y="4050718"/>
            <a:ext cx="219456" cy="749881"/>
          </a:xfrm>
          <a:prstGeom prst="rect">
            <a:avLst/>
          </a:prstGeom>
          <a:solidFill>
            <a:srgbClr val="C00000"/>
          </a:solidFill>
          <a:ln w="25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4088" y="384955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F4F89"/>
                </a:solidFill>
                <a:latin typeface="Aptos"/>
              </a:rPr>
              <a:t>34.17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7784" y="4864608"/>
            <a:ext cx="14691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GRPO+Evo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02152" y="3264408"/>
            <a:ext cx="91440" cy="91440"/>
          </a:xfrm>
          <a:prstGeom prst="rect">
            <a:avLst/>
          </a:prstGeom>
          <a:solidFill>
            <a:srgbClr val="C00000"/>
          </a:solidFill>
          <a:ln w="12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0168" y="322783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280"/>
                </a:solidFill>
                <a:latin typeface="微软雅黑"/>
              </a:rPr>
              <a:t>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5010912"/>
            <a:ext cx="459028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1">
                <a:solidFill>
                  <a:srgbClr val="687280"/>
                </a:solidFill>
                <a:latin typeface="微软雅黑"/>
              </a:rPr>
              <a:t>percentage · lower is better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0448" y="1426464"/>
            <a:ext cx="5559552" cy="3776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1664208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4F89"/>
                </a:solidFill>
                <a:latin typeface="微软雅黑"/>
              </a:rPr>
              <a:t>在线规则 reward（不读 gold）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2048256"/>
            <a:ext cx="49377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02A3A"/>
                </a:solidFill>
                <a:latin typeface="微软雅黑"/>
              </a:rPr>
              <a:t>success  +0.35
artifact/path 额外 +0.15
empty  −0.20   ·   error  −0.60
综合成功比例、错误、空输出、artifact、长度与轮数，clip 到 [−1, 1]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3246120"/>
            <a:ext cx="4983480" cy="749808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456432"/>
            <a:ext cx="46451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4F89"/>
                </a:solidFill>
                <a:latin typeface="Aptos"/>
              </a:rPr>
              <a:t>Aᵢ = (Rᵢ − mean(R)) / (std(R) + 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4261104"/>
            <a:ext cx="4892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</a:rPr>
              <a:t>结论：Pure GRPO 未稳定超过 Base；经验增强主要降低 tool error。episode reward 仍无法定位错误产物绑定。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10 · NEXT 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方案 A：保留 GRPO 组内比较，但把 provenance 信用对齐到工具调用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真正的差异不是“再加一个步骤分数”，而是让不同工具动作获得不同 advantage，并只更新对应 token span。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研究计划 · provenance-aware tool credit assignment · 尚未完成训练验证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285232" cy="4160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9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7824" y="1627632"/>
            <a:ext cx="1371600" cy="256032"/>
          </a:xfrm>
          <a:prstGeom prst="roundRect">
            <a:avLst/>
          </a:prstGeom>
          <a:solidFill>
            <a:srgbClr val="2F4F89"/>
          </a:solidFill>
          <a:ln w="381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636776"/>
            <a:ext cx="133502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Standard GRPO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05740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4F89"/>
                </a:solidFill>
                <a:latin typeface="微软雅黑"/>
              </a:rPr>
              <a:t>整条 rollout 一个 reward / advantage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2670048"/>
            <a:ext cx="758952" cy="384048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688336"/>
            <a:ext cx="7406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4F89"/>
                </a:solidFill>
                <a:latin typeface="微软雅黑"/>
              </a:rPr>
              <a:t>tool₁</a:t>
            </a:r>
          </a:p>
        </p:txBody>
      </p:sp>
      <p:sp>
        <p:nvSpPr>
          <p:cNvPr id="18" name="Chevron 17"/>
          <p:cNvSpPr/>
          <p:nvPr/>
        </p:nvSpPr>
        <p:spPr>
          <a:xfrm>
            <a:off x="1709928" y="2761488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37943" y="2670048"/>
            <a:ext cx="758952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47087" y="2688336"/>
            <a:ext cx="7406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4F89"/>
                </a:solidFill>
                <a:latin typeface="微软雅黑"/>
              </a:rPr>
              <a:t>tool₂</a:t>
            </a:r>
          </a:p>
        </p:txBody>
      </p:sp>
      <p:sp>
        <p:nvSpPr>
          <p:cNvPr id="21" name="Chevron 20"/>
          <p:cNvSpPr/>
          <p:nvPr/>
        </p:nvSpPr>
        <p:spPr>
          <a:xfrm>
            <a:off x="2615184" y="2761488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0" y="2670048"/>
            <a:ext cx="758952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52344" y="2688336"/>
            <a:ext cx="7406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4F89"/>
                </a:solidFill>
                <a:latin typeface="微软雅黑"/>
              </a:rPr>
              <a:t>tool₃</a:t>
            </a:r>
          </a:p>
        </p:txBody>
      </p:sp>
      <p:sp>
        <p:nvSpPr>
          <p:cNvPr id="24" name="Chevron 23"/>
          <p:cNvSpPr/>
          <p:nvPr/>
        </p:nvSpPr>
        <p:spPr>
          <a:xfrm>
            <a:off x="3520440" y="2761488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48456" y="2670048"/>
            <a:ext cx="758952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599" y="2688336"/>
            <a:ext cx="7406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4F89"/>
                </a:solidFill>
                <a:latin typeface="微软雅黑"/>
              </a:rPr>
              <a:t>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273552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A3A"/>
                </a:solidFill>
                <a:latin typeface="Aptos"/>
              </a:rPr>
              <a:t>Rᵢ → Aᵢ → 广播到所有 assistant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886200"/>
            <a:ext cx="4526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00000"/>
                </a:solidFill>
                <a:latin typeface="微软雅黑"/>
              </a:rPr>
              <a:t>错误绑定发生在 tool₂，
但 tool₁ / tool₃ 也接收同一个 Aᵢ。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1417320"/>
            <a:ext cx="5285232" cy="4160520"/>
          </a:xfrm>
          <a:prstGeom prst="roundRect">
            <a:avLst/>
          </a:prstGeom>
          <a:solidFill>
            <a:srgbClr val="F0E8F7"/>
          </a:solidFill>
          <a:ln w="1270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92240" y="1627632"/>
            <a:ext cx="1938528" cy="256032"/>
          </a:xfrm>
          <a:prstGeom prst="roundRect">
            <a:avLst/>
          </a:prstGeom>
          <a:solidFill>
            <a:srgbClr val="703FA0"/>
          </a:solidFill>
          <a:ln w="381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7" y="1636776"/>
            <a:ext cx="190195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Provenance-aware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057400"/>
            <a:ext cx="4498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4F89"/>
                </a:solidFill>
                <a:latin typeface="微软雅黑"/>
              </a:rPr>
              <a:t>artifact graph → local credit → token span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47104" y="2615184"/>
            <a:ext cx="749808" cy="384048"/>
          </a:xfrm>
          <a:prstGeom prst="roundRect">
            <a:avLst/>
          </a:prstGeom>
          <a:solidFill>
            <a:srgbClr val="EBF1FA"/>
          </a:solidFill>
          <a:ln w="10160">
            <a:solidFill>
              <a:srgbClr val="00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2633472"/>
            <a:ext cx="731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8C95"/>
                </a:solidFill>
                <a:latin typeface="微软雅黑"/>
              </a:rPr>
              <a:t>artifact</a:t>
            </a:r>
          </a:p>
        </p:txBody>
      </p:sp>
      <p:sp>
        <p:nvSpPr>
          <p:cNvPr id="35" name="Chevron 34"/>
          <p:cNvSpPr/>
          <p:nvPr/>
        </p:nvSpPr>
        <p:spPr>
          <a:xfrm>
            <a:off x="7315200" y="2706624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43216" y="2615184"/>
            <a:ext cx="74980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633472"/>
            <a:ext cx="731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70AD47"/>
                </a:solidFill>
                <a:latin typeface="微软雅黑"/>
              </a:rPr>
              <a:t>tool₁</a:t>
            </a:r>
          </a:p>
        </p:txBody>
      </p:sp>
      <p:sp>
        <p:nvSpPr>
          <p:cNvPr id="38" name="Chevron 37"/>
          <p:cNvSpPr/>
          <p:nvPr/>
        </p:nvSpPr>
        <p:spPr>
          <a:xfrm>
            <a:off x="8211312" y="2706624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39328" y="2615184"/>
            <a:ext cx="74980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2" y="2633472"/>
            <a:ext cx="731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00000"/>
                </a:solidFill>
                <a:latin typeface="微软雅黑"/>
              </a:rPr>
              <a:t>tool₂</a:t>
            </a:r>
          </a:p>
        </p:txBody>
      </p:sp>
      <p:sp>
        <p:nvSpPr>
          <p:cNvPr id="41" name="Chevron 40"/>
          <p:cNvSpPr/>
          <p:nvPr/>
        </p:nvSpPr>
        <p:spPr>
          <a:xfrm>
            <a:off x="9107424" y="2706624"/>
            <a:ext cx="109728" cy="109728"/>
          </a:xfrm>
          <a:prstGeom prst="chevron">
            <a:avLst/>
          </a:prstGeom>
          <a:solidFill>
            <a:srgbClr val="68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35440" y="2615184"/>
            <a:ext cx="74980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44584" y="2633472"/>
            <a:ext cx="731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70AD47"/>
                </a:solidFill>
                <a:latin typeface="微软雅黑"/>
              </a:rPr>
              <a:t>tool₃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3200400"/>
            <a:ext cx="4526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02A3A"/>
                </a:solidFill>
                <a:latin typeface="Aptos"/>
              </a:rPr>
              <a:t>cᵢ,ₜ = wₛS + wₒO + wₚP − wₙN
Dᵢ,ₜ = Yᵢ,ₜ − mean(Y same-prefix)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7104" y="3877056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3FA0"/>
                </a:solidFill>
                <a:latin typeface="Aptos"/>
              </a:rPr>
              <a:t>Ãᵢ,ₜ = (1−λcᵢ,ₜ)Aᵢ + λcᵢ,ₜ clip(Dᵢ,ₜ/s)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754880"/>
            <a:ext cx="4526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02A3A"/>
                </a:solidFill>
                <a:latin typeface="微软雅黑"/>
              </a:rPr>
              <a:t>tool₂ 错误绑定：负 credit；纠正动作：正 credit
只对齐到对应 tool-call token span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06440"/>
            <a:ext cx="10698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</a:rPr>
              <a:t>下一步需修改 veRL 的 action-span / advantage 构造；Swift 可做 reward shaping 近似，但难以完成真正 token-level credit。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AB6"/>
          </a:solidFill>
          <a:ln>
            <a:solidFill>
              <a:srgbClr val="005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303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11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7315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</a:rPr>
              <a:t>阶段性结论：工具链自进化已验证，边界治理与 RL 正在推进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1887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67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87280"/>
                </a:solidFill>
                <a:latin typeface="微软雅黑"/>
              </a:rPr>
              <a:t>把已完成证据、当前限制和下一步工作放在同一页，避免把研究计划写成实验结论。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1128248" cy="0"/>
          </a:xfrm>
          <a:prstGeom prst="line">
            <a:avLst/>
          </a:prstGeom>
          <a:ln w="1016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762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28816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微软雅黑"/>
              </a:rPr>
              <a:t>Terrabox · ExperienceEvo / PromptEvo · 中期答辩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87280"/>
                </a:solidFill>
                <a:latin typeface="Aptos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536192"/>
            <a:ext cx="3401568" cy="3035808"/>
          </a:xfrm>
          <a:prstGeom prst="roundRect">
            <a:avLst/>
          </a:prstGeom>
          <a:solidFill>
            <a:srgbClr val="E2F0D9"/>
          </a:solidFill>
          <a:ln w="1651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1773936"/>
            <a:ext cx="932688" cy="256032"/>
          </a:xfrm>
          <a:prstGeom prst="roundRect">
            <a:avLst/>
          </a:prstGeom>
          <a:solidFill>
            <a:srgbClr val="70AD47"/>
          </a:solidFill>
          <a:ln w="381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783080"/>
            <a:ext cx="896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已验证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267712"/>
            <a:ext cx="288950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202A3A"/>
                </a:solidFill>
                <a:latin typeface="微软雅黑"/>
              </a:rPr>
              <a:t>v4-clean 在 OEA 全量真实工具评测中提升 Success、序列匹配、错误控制与效率；
PromptEvo 在严格 ToolBench Stage1 上改善工具调用与恢复。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8" y="3913632"/>
            <a:ext cx="2962656" cy="0"/>
          </a:xfrm>
          <a:prstGeom prst="line">
            <a:avLst/>
          </a:prstGeom>
          <a:ln w="1016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4114800"/>
            <a:ext cx="28895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0AD47"/>
                </a:solidFill>
                <a:latin typeface="微软雅黑"/>
              </a:rPr>
              <a:t>方法状态：已完成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1536192"/>
            <a:ext cx="3401568" cy="3035808"/>
          </a:xfrm>
          <a:prstGeom prst="roundRect">
            <a:avLst/>
          </a:prstGeom>
          <a:solidFill>
            <a:srgbClr val="FDEAD7"/>
          </a:solidFill>
          <a:ln w="1651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26864" y="1773936"/>
            <a:ext cx="932688" cy="256032"/>
          </a:xfrm>
          <a:prstGeom prst="roundRect">
            <a:avLst/>
          </a:prstGeom>
          <a:solidFill>
            <a:srgbClr val="ED7D31"/>
          </a:solidFill>
          <a:ln w="381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1783080"/>
            <a:ext cx="896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正在评测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2267712"/>
            <a:ext cx="288950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202A3A"/>
                </a:solidFill>
                <a:latin typeface="微软雅黑"/>
              </a:rPr>
              <a:t>Boundary 已完成反例生成、双 Agent 审核、规则冻结和独立 store；
全量 OEA test 仍在进行，最终性能暂不下结论。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26864" y="3913632"/>
            <a:ext cx="2962656" cy="0"/>
          </a:xfrm>
          <a:prstGeom prst="line">
            <a:avLst/>
          </a:prstGeom>
          <a:ln w="1016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26864" y="4114800"/>
            <a:ext cx="28895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D7D31"/>
                </a:solidFill>
                <a:latin typeface="微软雅黑"/>
              </a:rPr>
              <a:t>方法状态：评测中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1536192"/>
            <a:ext cx="3401568" cy="3035808"/>
          </a:xfrm>
          <a:prstGeom prst="roundRect">
            <a:avLst/>
          </a:prstGeom>
          <a:solidFill>
            <a:srgbClr val="F0E8F7"/>
          </a:solidFill>
          <a:ln w="1651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1773936"/>
            <a:ext cx="932688" cy="256032"/>
          </a:xfrm>
          <a:prstGeom prst="roundRect">
            <a:avLst/>
          </a:prstGeom>
          <a:solidFill>
            <a:srgbClr val="703FA0"/>
          </a:solidFill>
          <a:ln w="3810">
            <a:solidFill>
              <a:srgbClr val="70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1783080"/>
            <a:ext cx="896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下一步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267712"/>
            <a:ext cx="288950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202A3A"/>
                </a:solidFill>
                <a:latin typeface="微软雅黑"/>
              </a:rPr>
              <a:t>实现 provenance-aware credit assignment：把产物来源和语义绑定反馈对齐到工具调用 token；
补充 gate、消融和未见产物组合泛化。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21040" y="3913632"/>
            <a:ext cx="2962656" cy="0"/>
          </a:xfrm>
          <a:prstGeom prst="line">
            <a:avLst/>
          </a:prstGeom>
          <a:ln w="10160">
            <a:solidFill>
              <a:srgbClr val="70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21040" y="4114800"/>
            <a:ext cx="28895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03FA0"/>
                </a:solidFill>
                <a:latin typeface="微软雅黑"/>
              </a:rPr>
              <a:t>方法状态：研究计划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047488"/>
            <a:ext cx="10716768" cy="804672"/>
          </a:xfrm>
          <a:prstGeom prst="roundRect">
            <a:avLst/>
          </a:prstGeom>
          <a:solidFill>
            <a:srgbClr val="2F4F89"/>
          </a:solidFill>
          <a:ln w="10160">
            <a:solidFill>
              <a:srgbClr val="2F4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285232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核心结论：让 Agent 从“记住历史轨迹”走向“理解产物状态、判断经验边界，并将可靠性内化为策略”。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364957,20481828,4663468,20482036,4721717,20242012,19951220,20481725,19965474,20242005,4712219,4695728,4721718,20482073,4364950,20362264,19948766,4695713,20481675,4663476,20482059,20482074,19972045,20469033,20209626,20482075,4364915,4364974],&quot;65&quot;:[20233105],&quot;70&quot;:[3312294,3323367,3312211,3327924,3330158,3327356]}"/>
  <p:tag name="COMMONDATA" val="eyJjb3VudCI6MTE1LCJoZGlkIjoiMDgzM2I4NmMwZDk0NTliNWMzOWE2Y2RhMWE3MzZiOWEiLCJ1c2VyQ291bnQiOjF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bglnfib">
      <a:majorFont>
        <a:latin typeface="汉仪旗黑-55简"/>
        <a:ea typeface="汉仪旗黑-55简"/>
        <a:cs typeface=""/>
      </a:majorFont>
      <a:minorFont>
        <a:latin typeface="汉仪旗黑-55简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bglnfib">
      <a:majorFont>
        <a:latin typeface="汉仪旗黑-55简"/>
        <a:ea typeface="汉仪旗黑-55简"/>
        <a:cs typeface=""/>
      </a:majorFont>
      <a:minorFont>
        <a:latin typeface="汉仪旗黑-55简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4963</TotalTime>
  <Words>3652</Words>
  <Application>Microsoft Office PowerPoint</Application>
  <PresentationFormat>宽屏</PresentationFormat>
  <Paragraphs>532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微软雅黑</vt:lpstr>
      <vt:lpstr>Arial</vt:lpstr>
      <vt:lpstr>Wingdings</vt:lpstr>
      <vt:lpstr>黑体</vt:lpstr>
      <vt:lpstr>等线</vt:lpstr>
      <vt:lpstr>汉仪旗黑-55简</vt:lpstr>
      <vt:lpstr>Times New Roman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A2888</dc:creator>
  <cp:lastModifiedBy>Office</cp:lastModifiedBy>
  <cp:revision>989</cp:revision>
  <dcterms:created xsi:type="dcterms:W3CDTF">2024-09-12T02:39:00Z</dcterms:created>
  <dcterms:modified xsi:type="dcterms:W3CDTF">2026-01-18T03:01:42Z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KSOTemplateUUID">
    <vt:lpwstr>v1.0_mb_UlGMJW2iKrT5n1uYnIkUdQ==</vt:lpwstr>
  </property>
  <property fmtid="{D5CDD505-2E9C-101B-9397-08002B2CF9AE}" pid="4" name="ICV">
    <vt:lpwstr>982D53889A294350B24F98292A6B9C7B_13</vt:lpwstr>
  </property>
</Properties>
</file>